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1" d="100"/>
          <a:sy n="51" d="100"/>
        </p:scale>
        <p:origin x="86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941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and introduce GridSense AI: a Power BI-based analytics platform built on a cleaned smart-grid dataset (~20,000 readings) covering consumption, solar generation, weather and anomaly/risk signals. State the project is a data analytics and visualization project (not a deployed ML system) suitable for academic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smart grids depend on continuous data from meters and sensors. Frame Power BI as the tool that converts this stream into something people can act on. The scope panel on the right previews the scale of the dataset used in this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four challenges. Emphasize that these are the practical, everyday pain points that motivated GridSense AI — not hypothetical issues. Keep this factual and grounded in operations, since no ML claims are being made yet.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map directly to the four dashboard pages shown later. Objective 1 underpins the data model; objectives 2–5 map to Energy Overview, Anomaly Intelligence, Forecasting and Weather Intelligence respectively.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GridSense AI's six pillars are all implemented as Power BI report features: data model, filters/slicers, conditional visuals for anomalies, forecast-vs-actual visuals, weather scatter/bar visuals, and DAX measures behind every KPI card.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groups roughly into four families of fields: identifiers/time, consumption &amp; forecasting, solar &amp; weather, and anomaly &amp; risk. All cleaning and shaping was done in Power Query before modeling; DAX measures then drive every KPI and chart in Power BI.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pipeline: raw dataset, Power Query cleaning, data modeling with DAX measures, the Power BI dashboard itself, and finally the insights it enables. The callout box clarifies that this full pipeline already exists — nothing here is simulated.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landing page of the report. KPI cards summarize total and average consumption, total solar generation and anomaly count. The trend line shows consumption over the selected date range, while the region, building-type and solar-vs-grid visuals let reviewers compare where energy is used and how much is offset by solar.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focuses on anomaly and risk signals already present in the cleaned dataset — anomaly_flag, high_usage_flag, sensor_health, outage_risk_score and risk_category. It is descriptive analytics: the flags and scores are read from the data, not produced by a trained model. The scatter and distribution visuals help spot where anomalies cluster.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forecasting page compares consumption against the pre-computed next_hour_consumption_kwh and Forecast Error fields already in the dataset — this is visualization of existing forecast-related columns, not a model trained within this project. Hourly and day-of-week visuals reveal demand rhythm; the peak-vs-off-peak chart breaks this down by building type.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overlays environmental fields — temp_c, wind_ms, humidity_pct — with consumption and solar generation. The scatter visuals let a reviewer see whether demand or solar output shifts with weather conditions, using the Temperature Range field to bucket results.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clearly separating what exists today from what is proposed. Everything on the left is implemented and demonstrable in the current Power BI report. Everything on the right — especially any machine-learning model — is future scope only, not claimed as built or evaluated in this project. Thank the panel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sp>
        <p:nvSpPr>
          <p:cNvPr id="6" name="Shape 4"/>
          <p:cNvSpPr/>
          <p:nvPr/>
        </p:nvSpPr>
        <p:spPr>
          <a:xfrm>
            <a:off x="0" y="5577840"/>
            <a:ext cx="2377440" cy="1280160"/>
          </a:xfrm>
          <a:prstGeom prst="line">
            <a:avLst/>
          </a:prstGeom>
          <a:noFill/>
          <a:ln w="12700">
            <a:solidFill>
              <a:srgbClr val="29D3FF">
                <a:alpha val="35000"/>
              </a:srgbClr>
            </a:solidFill>
            <a:prstDash val="solid"/>
          </a:ln>
        </p:spPr>
      </p:sp>
      <p:sp>
        <p:nvSpPr>
          <p:cNvPr id="7" name="Shape 5"/>
          <p:cNvSpPr/>
          <p:nvPr/>
        </p:nvSpPr>
        <p:spPr>
          <a:xfrm>
            <a:off x="0" y="5852160"/>
            <a:ext cx="2011680" cy="1005840"/>
          </a:xfrm>
          <a:prstGeom prst="line">
            <a:avLst/>
          </a:prstGeom>
          <a:noFill/>
          <a:ln w="12700">
            <a:solidFill>
              <a:srgbClr val="29D3FF">
                <a:alpha val="35000"/>
              </a:srgbClr>
            </a:solidFill>
            <a:prstDash val="solid"/>
          </a:ln>
        </p:spPr>
      </p:sp>
      <p:sp>
        <p:nvSpPr>
          <p:cNvPr id="8" name="Shape 6"/>
          <p:cNvSpPr/>
          <p:nvPr/>
        </p:nvSpPr>
        <p:spPr>
          <a:xfrm>
            <a:off x="0" y="6126480"/>
            <a:ext cx="1645920" cy="731520"/>
          </a:xfrm>
          <a:prstGeom prst="line">
            <a:avLst/>
          </a:prstGeom>
          <a:noFill/>
          <a:ln w="12700">
            <a:solidFill>
              <a:srgbClr val="29D3FF">
                <a:alpha val="35000"/>
              </a:srgbClr>
            </a:solidFill>
            <a:prstDash val="solid"/>
          </a:ln>
        </p:spPr>
      </p:sp>
      <p:sp>
        <p:nvSpPr>
          <p:cNvPr id="9" name="Shape 7"/>
          <p:cNvSpPr/>
          <p:nvPr/>
        </p:nvSpPr>
        <p:spPr>
          <a:xfrm>
            <a:off x="0" y="6400800"/>
            <a:ext cx="1280160" cy="457200"/>
          </a:xfrm>
          <a:prstGeom prst="line">
            <a:avLst/>
          </a:prstGeom>
          <a:noFill/>
          <a:ln w="12700">
            <a:solidFill>
              <a:srgbClr val="29D3FF">
                <a:alpha val="35000"/>
              </a:srgbClr>
            </a:solidFill>
            <a:prstDash val="solid"/>
          </a:ln>
        </p:spPr>
      </p:sp>
      <p:sp>
        <p:nvSpPr>
          <p:cNvPr id="10" name="Shape 8"/>
          <p:cNvSpPr/>
          <p:nvPr/>
        </p:nvSpPr>
        <p:spPr>
          <a:xfrm>
            <a:off x="365760" y="5394960"/>
            <a:ext cx="32004" cy="32004"/>
          </a:xfrm>
          <a:prstGeom prst="ellipse">
            <a:avLst/>
          </a:prstGeom>
          <a:solidFill>
            <a:srgbClr val="29D3FF">
              <a:alpha val="45000"/>
            </a:srgbClr>
          </a:solidFill>
          <a:ln/>
        </p:spPr>
      </p:sp>
      <p:sp>
        <p:nvSpPr>
          <p:cNvPr id="11" name="Shape 9"/>
          <p:cNvSpPr/>
          <p:nvPr/>
        </p:nvSpPr>
        <p:spPr>
          <a:xfrm>
            <a:off x="1280160" y="5394960"/>
            <a:ext cx="32004" cy="32004"/>
          </a:xfrm>
          <a:prstGeom prst="ellipse">
            <a:avLst/>
          </a:prstGeom>
          <a:solidFill>
            <a:srgbClr val="29D3FF">
              <a:alpha val="45000"/>
            </a:srgbClr>
          </a:solidFill>
          <a:ln/>
        </p:spPr>
      </p:sp>
      <p:sp>
        <p:nvSpPr>
          <p:cNvPr id="12" name="Shape 10"/>
          <p:cNvSpPr/>
          <p:nvPr/>
        </p:nvSpPr>
        <p:spPr>
          <a:xfrm>
            <a:off x="2194560" y="5394960"/>
            <a:ext cx="32004" cy="32004"/>
          </a:xfrm>
          <a:prstGeom prst="ellipse">
            <a:avLst/>
          </a:prstGeom>
          <a:solidFill>
            <a:srgbClr val="29D3FF">
              <a:alpha val="45000"/>
            </a:srgbClr>
          </a:solidFill>
          <a:ln/>
        </p:spPr>
      </p:sp>
      <p:sp>
        <p:nvSpPr>
          <p:cNvPr id="13" name="Shape 11"/>
          <p:cNvSpPr/>
          <p:nvPr/>
        </p:nvSpPr>
        <p:spPr>
          <a:xfrm>
            <a:off x="3108960" y="5394960"/>
            <a:ext cx="32004" cy="32004"/>
          </a:xfrm>
          <a:prstGeom prst="ellipse">
            <a:avLst/>
          </a:prstGeom>
          <a:solidFill>
            <a:srgbClr val="29D3FF">
              <a:alpha val="45000"/>
            </a:srgbClr>
          </a:solidFill>
          <a:ln/>
        </p:spPr>
      </p:sp>
      <p:sp>
        <p:nvSpPr>
          <p:cNvPr id="14" name="Shape 12"/>
          <p:cNvSpPr/>
          <p:nvPr/>
        </p:nvSpPr>
        <p:spPr>
          <a:xfrm>
            <a:off x="4023360" y="5394960"/>
            <a:ext cx="32004" cy="32004"/>
          </a:xfrm>
          <a:prstGeom prst="ellipse">
            <a:avLst/>
          </a:prstGeom>
          <a:solidFill>
            <a:srgbClr val="29D3FF">
              <a:alpha val="45000"/>
            </a:srgbClr>
          </a:solidFill>
          <a:ln/>
        </p:spPr>
      </p:sp>
      <p:sp>
        <p:nvSpPr>
          <p:cNvPr id="15" name="Shape 13"/>
          <p:cNvSpPr/>
          <p:nvPr/>
        </p:nvSpPr>
        <p:spPr>
          <a:xfrm>
            <a:off x="4937760" y="5394960"/>
            <a:ext cx="32004" cy="32004"/>
          </a:xfrm>
          <a:prstGeom prst="ellipse">
            <a:avLst/>
          </a:prstGeom>
          <a:solidFill>
            <a:srgbClr val="29D3FF">
              <a:alpha val="45000"/>
            </a:srgbClr>
          </a:solidFill>
          <a:ln/>
        </p:spPr>
      </p:sp>
      <p:sp>
        <p:nvSpPr>
          <p:cNvPr id="16" name="Shape 14"/>
          <p:cNvSpPr/>
          <p:nvPr/>
        </p:nvSpPr>
        <p:spPr>
          <a:xfrm>
            <a:off x="5852160" y="5394960"/>
            <a:ext cx="32004" cy="32004"/>
          </a:xfrm>
          <a:prstGeom prst="ellipse">
            <a:avLst/>
          </a:prstGeom>
          <a:solidFill>
            <a:srgbClr val="29D3FF">
              <a:alpha val="45000"/>
            </a:srgbClr>
          </a:solidFill>
          <a:ln/>
        </p:spPr>
      </p:sp>
      <p:sp>
        <p:nvSpPr>
          <p:cNvPr id="17" name="Shape 15"/>
          <p:cNvSpPr/>
          <p:nvPr/>
        </p:nvSpPr>
        <p:spPr>
          <a:xfrm>
            <a:off x="6766560" y="5394960"/>
            <a:ext cx="32004" cy="32004"/>
          </a:xfrm>
          <a:prstGeom prst="ellipse">
            <a:avLst/>
          </a:prstGeom>
          <a:solidFill>
            <a:srgbClr val="29D3FF">
              <a:alpha val="45000"/>
            </a:srgbClr>
          </a:solidFill>
          <a:ln/>
        </p:spPr>
      </p:sp>
      <p:sp>
        <p:nvSpPr>
          <p:cNvPr id="18" name="Shape 16"/>
          <p:cNvSpPr/>
          <p:nvPr/>
        </p:nvSpPr>
        <p:spPr>
          <a:xfrm>
            <a:off x="7680960" y="5394960"/>
            <a:ext cx="32004" cy="32004"/>
          </a:xfrm>
          <a:prstGeom prst="ellipse">
            <a:avLst/>
          </a:prstGeom>
          <a:solidFill>
            <a:srgbClr val="29D3FF">
              <a:alpha val="45000"/>
            </a:srgbClr>
          </a:solidFill>
          <a:ln/>
        </p:spPr>
      </p:sp>
      <p:sp>
        <p:nvSpPr>
          <p:cNvPr id="19" name="Shape 17"/>
          <p:cNvSpPr/>
          <p:nvPr/>
        </p:nvSpPr>
        <p:spPr>
          <a:xfrm>
            <a:off x="8595360" y="5394960"/>
            <a:ext cx="32004" cy="32004"/>
          </a:xfrm>
          <a:prstGeom prst="ellipse">
            <a:avLst/>
          </a:prstGeom>
          <a:solidFill>
            <a:srgbClr val="29D3FF">
              <a:alpha val="45000"/>
            </a:srgbClr>
          </a:solidFill>
          <a:ln/>
        </p:spPr>
      </p:sp>
      <p:sp>
        <p:nvSpPr>
          <p:cNvPr id="20" name="Shape 18"/>
          <p:cNvSpPr/>
          <p:nvPr/>
        </p:nvSpPr>
        <p:spPr>
          <a:xfrm>
            <a:off x="9509760" y="5394960"/>
            <a:ext cx="32004" cy="32004"/>
          </a:xfrm>
          <a:prstGeom prst="ellipse">
            <a:avLst/>
          </a:prstGeom>
          <a:solidFill>
            <a:srgbClr val="29D3FF">
              <a:alpha val="45000"/>
            </a:srgbClr>
          </a:solidFill>
          <a:ln/>
        </p:spPr>
      </p:sp>
      <p:sp>
        <p:nvSpPr>
          <p:cNvPr id="21" name="Shape 19"/>
          <p:cNvSpPr/>
          <p:nvPr/>
        </p:nvSpPr>
        <p:spPr>
          <a:xfrm>
            <a:off x="10424160" y="5394960"/>
            <a:ext cx="32004" cy="32004"/>
          </a:xfrm>
          <a:prstGeom prst="ellipse">
            <a:avLst/>
          </a:prstGeom>
          <a:solidFill>
            <a:srgbClr val="29D3FF">
              <a:alpha val="45000"/>
            </a:srgbClr>
          </a:solidFill>
          <a:ln/>
        </p:spPr>
      </p:sp>
      <p:sp>
        <p:nvSpPr>
          <p:cNvPr id="22" name="Shape 20"/>
          <p:cNvSpPr/>
          <p:nvPr/>
        </p:nvSpPr>
        <p:spPr>
          <a:xfrm>
            <a:off x="11338560" y="5394960"/>
            <a:ext cx="32004" cy="32004"/>
          </a:xfrm>
          <a:prstGeom prst="ellipse">
            <a:avLst/>
          </a:prstGeom>
          <a:solidFill>
            <a:srgbClr val="29D3FF">
              <a:alpha val="45000"/>
            </a:srgbClr>
          </a:solidFill>
          <a:ln/>
        </p:spPr>
      </p:sp>
      <p:sp>
        <p:nvSpPr>
          <p:cNvPr id="23" name="Shape 21"/>
          <p:cNvSpPr/>
          <p:nvPr/>
        </p:nvSpPr>
        <p:spPr>
          <a:xfrm>
            <a:off x="365760" y="5897880"/>
            <a:ext cx="32004" cy="32004"/>
          </a:xfrm>
          <a:prstGeom prst="ellipse">
            <a:avLst/>
          </a:prstGeom>
          <a:solidFill>
            <a:srgbClr val="29D3FF">
              <a:alpha val="45000"/>
            </a:srgbClr>
          </a:solidFill>
          <a:ln/>
        </p:spPr>
      </p:sp>
      <p:sp>
        <p:nvSpPr>
          <p:cNvPr id="24" name="Shape 22"/>
          <p:cNvSpPr/>
          <p:nvPr/>
        </p:nvSpPr>
        <p:spPr>
          <a:xfrm>
            <a:off x="1280160" y="5897880"/>
            <a:ext cx="32004" cy="32004"/>
          </a:xfrm>
          <a:prstGeom prst="ellipse">
            <a:avLst/>
          </a:prstGeom>
          <a:solidFill>
            <a:srgbClr val="29D3FF">
              <a:alpha val="45000"/>
            </a:srgbClr>
          </a:solidFill>
          <a:ln/>
        </p:spPr>
      </p:sp>
      <p:sp>
        <p:nvSpPr>
          <p:cNvPr id="25" name="Shape 23"/>
          <p:cNvSpPr/>
          <p:nvPr/>
        </p:nvSpPr>
        <p:spPr>
          <a:xfrm>
            <a:off x="2194560" y="5897880"/>
            <a:ext cx="32004" cy="32004"/>
          </a:xfrm>
          <a:prstGeom prst="ellipse">
            <a:avLst/>
          </a:prstGeom>
          <a:solidFill>
            <a:srgbClr val="29D3FF">
              <a:alpha val="45000"/>
            </a:srgbClr>
          </a:solidFill>
          <a:ln/>
        </p:spPr>
      </p:sp>
      <p:sp>
        <p:nvSpPr>
          <p:cNvPr id="26" name="Shape 24"/>
          <p:cNvSpPr/>
          <p:nvPr/>
        </p:nvSpPr>
        <p:spPr>
          <a:xfrm>
            <a:off x="3108960" y="5897880"/>
            <a:ext cx="32004" cy="32004"/>
          </a:xfrm>
          <a:prstGeom prst="ellipse">
            <a:avLst/>
          </a:prstGeom>
          <a:solidFill>
            <a:srgbClr val="29D3FF">
              <a:alpha val="45000"/>
            </a:srgbClr>
          </a:solidFill>
          <a:ln/>
        </p:spPr>
      </p:sp>
      <p:sp>
        <p:nvSpPr>
          <p:cNvPr id="27" name="Shape 25"/>
          <p:cNvSpPr/>
          <p:nvPr/>
        </p:nvSpPr>
        <p:spPr>
          <a:xfrm>
            <a:off x="4023360" y="5897880"/>
            <a:ext cx="32004" cy="32004"/>
          </a:xfrm>
          <a:prstGeom prst="ellipse">
            <a:avLst/>
          </a:prstGeom>
          <a:solidFill>
            <a:srgbClr val="29D3FF">
              <a:alpha val="45000"/>
            </a:srgbClr>
          </a:solidFill>
          <a:ln/>
        </p:spPr>
      </p:sp>
      <p:sp>
        <p:nvSpPr>
          <p:cNvPr id="28" name="Shape 26"/>
          <p:cNvSpPr/>
          <p:nvPr/>
        </p:nvSpPr>
        <p:spPr>
          <a:xfrm>
            <a:off x="4937760" y="5897880"/>
            <a:ext cx="32004" cy="32004"/>
          </a:xfrm>
          <a:prstGeom prst="ellipse">
            <a:avLst/>
          </a:prstGeom>
          <a:solidFill>
            <a:srgbClr val="29D3FF">
              <a:alpha val="45000"/>
            </a:srgbClr>
          </a:solidFill>
          <a:ln/>
        </p:spPr>
      </p:sp>
      <p:sp>
        <p:nvSpPr>
          <p:cNvPr id="29" name="Shape 27"/>
          <p:cNvSpPr/>
          <p:nvPr/>
        </p:nvSpPr>
        <p:spPr>
          <a:xfrm>
            <a:off x="5852160" y="5897880"/>
            <a:ext cx="32004" cy="32004"/>
          </a:xfrm>
          <a:prstGeom prst="ellipse">
            <a:avLst/>
          </a:prstGeom>
          <a:solidFill>
            <a:srgbClr val="29D3FF">
              <a:alpha val="45000"/>
            </a:srgbClr>
          </a:solidFill>
          <a:ln/>
        </p:spPr>
      </p:sp>
      <p:sp>
        <p:nvSpPr>
          <p:cNvPr id="30" name="Shape 28"/>
          <p:cNvSpPr/>
          <p:nvPr/>
        </p:nvSpPr>
        <p:spPr>
          <a:xfrm>
            <a:off x="6766560" y="5897880"/>
            <a:ext cx="32004" cy="32004"/>
          </a:xfrm>
          <a:prstGeom prst="ellipse">
            <a:avLst/>
          </a:prstGeom>
          <a:solidFill>
            <a:srgbClr val="29D3FF">
              <a:alpha val="45000"/>
            </a:srgbClr>
          </a:solidFill>
          <a:ln/>
        </p:spPr>
      </p:sp>
      <p:sp>
        <p:nvSpPr>
          <p:cNvPr id="31" name="Shape 29"/>
          <p:cNvSpPr/>
          <p:nvPr/>
        </p:nvSpPr>
        <p:spPr>
          <a:xfrm>
            <a:off x="7680960" y="5897880"/>
            <a:ext cx="32004" cy="32004"/>
          </a:xfrm>
          <a:prstGeom prst="ellipse">
            <a:avLst/>
          </a:prstGeom>
          <a:solidFill>
            <a:srgbClr val="29D3FF">
              <a:alpha val="45000"/>
            </a:srgbClr>
          </a:solidFill>
          <a:ln/>
        </p:spPr>
      </p:sp>
      <p:sp>
        <p:nvSpPr>
          <p:cNvPr id="32" name="Shape 30"/>
          <p:cNvSpPr/>
          <p:nvPr/>
        </p:nvSpPr>
        <p:spPr>
          <a:xfrm>
            <a:off x="8595360" y="5897880"/>
            <a:ext cx="32004" cy="32004"/>
          </a:xfrm>
          <a:prstGeom prst="ellipse">
            <a:avLst/>
          </a:prstGeom>
          <a:solidFill>
            <a:srgbClr val="29D3FF">
              <a:alpha val="45000"/>
            </a:srgbClr>
          </a:solidFill>
          <a:ln/>
        </p:spPr>
      </p:sp>
      <p:sp>
        <p:nvSpPr>
          <p:cNvPr id="33" name="Shape 31"/>
          <p:cNvSpPr/>
          <p:nvPr/>
        </p:nvSpPr>
        <p:spPr>
          <a:xfrm>
            <a:off x="9509760" y="5897880"/>
            <a:ext cx="32004" cy="32004"/>
          </a:xfrm>
          <a:prstGeom prst="ellipse">
            <a:avLst/>
          </a:prstGeom>
          <a:solidFill>
            <a:srgbClr val="29D3FF">
              <a:alpha val="45000"/>
            </a:srgbClr>
          </a:solidFill>
          <a:ln/>
        </p:spPr>
      </p:sp>
      <p:sp>
        <p:nvSpPr>
          <p:cNvPr id="34" name="Shape 32"/>
          <p:cNvSpPr/>
          <p:nvPr/>
        </p:nvSpPr>
        <p:spPr>
          <a:xfrm>
            <a:off x="10424160" y="5897880"/>
            <a:ext cx="32004" cy="32004"/>
          </a:xfrm>
          <a:prstGeom prst="ellipse">
            <a:avLst/>
          </a:prstGeom>
          <a:solidFill>
            <a:srgbClr val="29D3FF">
              <a:alpha val="45000"/>
            </a:srgbClr>
          </a:solidFill>
          <a:ln/>
        </p:spPr>
      </p:sp>
      <p:sp>
        <p:nvSpPr>
          <p:cNvPr id="35" name="Shape 33"/>
          <p:cNvSpPr/>
          <p:nvPr/>
        </p:nvSpPr>
        <p:spPr>
          <a:xfrm>
            <a:off x="11338560" y="5897880"/>
            <a:ext cx="32004" cy="32004"/>
          </a:xfrm>
          <a:prstGeom prst="ellipse">
            <a:avLst/>
          </a:prstGeom>
          <a:solidFill>
            <a:srgbClr val="29D3FF">
              <a:alpha val="45000"/>
            </a:srgbClr>
          </a:solidFill>
          <a:ln/>
        </p:spPr>
      </p:sp>
      <p:pic>
        <p:nvPicPr>
          <p:cNvPr id="36" name="Image 0" descr="/home/claude/gridsense/icon_bolt.png"/>
          <p:cNvPicPr>
            <a:picLocks noChangeAspect="1"/>
          </p:cNvPicPr>
          <p:nvPr/>
        </p:nvPicPr>
        <p:blipFill>
          <a:blip r:embed="rId3"/>
          <a:stretch>
            <a:fillRect/>
          </a:stretch>
        </p:blipFill>
        <p:spPr>
          <a:xfrm>
            <a:off x="822960" y="1828800"/>
            <a:ext cx="457200" cy="457200"/>
          </a:xfrm>
          <a:prstGeom prst="rect">
            <a:avLst/>
          </a:prstGeom>
        </p:spPr>
      </p:pic>
      <p:sp>
        <p:nvSpPr>
          <p:cNvPr id="37" name="Text 34"/>
          <p:cNvSpPr/>
          <p:nvPr/>
        </p:nvSpPr>
        <p:spPr>
          <a:xfrm>
            <a:off x="1417320" y="1737360"/>
            <a:ext cx="7315200" cy="6400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GridSense </a:t>
            </a:r>
            <a:r>
              <a:rPr lang="en-US" sz="4000" b="1" dirty="0">
                <a:solidFill>
                  <a:srgbClr val="29D3FF"/>
                </a:solidFill>
                <a:latin typeface="Cambria" pitchFamily="34" charset="0"/>
                <a:ea typeface="Cambria" pitchFamily="34" charset="-122"/>
                <a:cs typeface="Cambria" pitchFamily="34" charset="-120"/>
              </a:rPr>
              <a:t>AI</a:t>
            </a:r>
            <a:endParaRPr lang="en-US" sz="4000" dirty="0"/>
          </a:p>
        </p:txBody>
      </p:sp>
      <p:sp>
        <p:nvSpPr>
          <p:cNvPr id="38" name="Text 35"/>
          <p:cNvSpPr/>
          <p:nvPr/>
        </p:nvSpPr>
        <p:spPr>
          <a:xfrm>
            <a:off x="822960" y="2514600"/>
            <a:ext cx="9875520" cy="731520"/>
          </a:xfrm>
          <a:prstGeom prst="rect">
            <a:avLst/>
          </a:prstGeom>
          <a:noFill/>
          <a:ln/>
        </p:spPr>
        <p:txBody>
          <a:bodyPr wrap="square" lIns="0" tIns="0" rIns="0" bIns="0" rtlCol="0" anchor="ctr"/>
          <a:lstStyle/>
          <a:p>
            <a:pPr marL="0" indent="0">
              <a:buNone/>
            </a:pPr>
            <a:r>
              <a:rPr lang="en-US" sz="2000" dirty="0">
                <a:solidFill>
                  <a:srgbClr val="D7E6FF"/>
                </a:solidFill>
                <a:latin typeface="Calibri" pitchFamily="34" charset="0"/>
                <a:ea typeface="Calibri" pitchFamily="34" charset="-122"/>
                <a:cs typeface="Calibri" pitchFamily="34" charset="-120"/>
              </a:rPr>
              <a:t>AI-Powered Smart Grid, Energy Demand &amp; Anomaly Intelligence Platform</a:t>
            </a:r>
            <a:endParaRPr lang="en-US" sz="2000" dirty="0"/>
          </a:p>
        </p:txBody>
      </p:sp>
      <p:sp>
        <p:nvSpPr>
          <p:cNvPr id="39" name="Shape 36"/>
          <p:cNvSpPr/>
          <p:nvPr/>
        </p:nvSpPr>
        <p:spPr>
          <a:xfrm>
            <a:off x="822960" y="3310128"/>
            <a:ext cx="2743200" cy="0"/>
          </a:xfrm>
          <a:prstGeom prst="line">
            <a:avLst/>
          </a:prstGeom>
          <a:noFill/>
          <a:ln w="19050">
            <a:solidFill>
              <a:srgbClr val="29D3FF"/>
            </a:solidFill>
            <a:prstDash val="solid"/>
          </a:ln>
        </p:spPr>
      </p:sp>
      <p:sp>
        <p:nvSpPr>
          <p:cNvPr id="40" name="Text 37"/>
          <p:cNvSpPr/>
          <p:nvPr/>
        </p:nvSpPr>
        <p:spPr>
          <a:xfrm>
            <a:off x="822960" y="3474720"/>
            <a:ext cx="9601200" cy="457200"/>
          </a:xfrm>
          <a:prstGeom prst="rect">
            <a:avLst/>
          </a:prstGeom>
          <a:noFill/>
          <a:ln/>
        </p:spPr>
        <p:txBody>
          <a:bodyPr wrap="square" lIns="0" tIns="0" rIns="0" bIns="0" rtlCol="0" anchor="ctr"/>
          <a:lstStyle/>
          <a:p>
            <a:pPr marL="0" indent="0">
              <a:buNone/>
            </a:pPr>
            <a:r>
              <a:rPr lang="en-US" sz="1350" i="1" dirty="0">
                <a:solidFill>
                  <a:srgbClr val="8FE3FF"/>
                </a:solidFill>
                <a:latin typeface="Calibri" pitchFamily="34" charset="0"/>
                <a:ea typeface="Calibri" pitchFamily="34" charset="-122"/>
                <a:cs typeface="Calibri" pitchFamily="34" charset="-120"/>
              </a:rPr>
              <a:t>Real-Time Energy Consumption, Solar Generation &amp; Grid Risk Intelligence — Built on Power BI</a:t>
            </a:r>
            <a:endParaRPr lang="en-US" sz="1350" dirty="0"/>
          </a:p>
        </p:txBody>
      </p:sp>
      <p:sp>
        <p:nvSpPr>
          <p:cNvPr id="41" name="Shape 38"/>
          <p:cNvSpPr/>
          <p:nvPr/>
        </p:nvSpPr>
        <p:spPr>
          <a:xfrm>
            <a:off x="822960" y="4343400"/>
            <a:ext cx="5120640" cy="1417320"/>
          </a:xfrm>
          <a:prstGeom prst="roundRect">
            <a:avLst>
              <a:gd name="adj" fmla="val 5161"/>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42" name="Text 39"/>
          <p:cNvSpPr/>
          <p:nvPr/>
        </p:nvSpPr>
        <p:spPr>
          <a:xfrm>
            <a:off x="1051560" y="4498848"/>
            <a:ext cx="3657600" cy="274320"/>
          </a:xfrm>
          <a:prstGeom prst="rect">
            <a:avLst/>
          </a:prstGeom>
          <a:noFill/>
          <a:ln/>
        </p:spPr>
        <p:txBody>
          <a:bodyPr wrap="square" lIns="0" tIns="0" rIns="0" bIns="0" rtlCol="0" anchor="ctr"/>
          <a:lstStyle/>
          <a:p>
            <a:pPr marL="0" indent="0">
              <a:buNone/>
            </a:pPr>
            <a:r>
              <a:rPr lang="en-US" sz="1000" kern="0" spc="120" dirty="0">
                <a:solidFill>
                  <a:srgbClr val="89A2C4"/>
                </a:solidFill>
                <a:latin typeface="Calibri" pitchFamily="34" charset="0"/>
                <a:ea typeface="Calibri" pitchFamily="34" charset="-122"/>
                <a:cs typeface="Calibri" pitchFamily="34" charset="-120"/>
              </a:rPr>
              <a:t>PRESENTED BY</a:t>
            </a:r>
            <a:endParaRPr lang="en-US" sz="1000" dirty="0"/>
          </a:p>
        </p:txBody>
      </p:sp>
      <p:sp>
        <p:nvSpPr>
          <p:cNvPr id="43" name="Text 40"/>
          <p:cNvSpPr/>
          <p:nvPr/>
        </p:nvSpPr>
        <p:spPr>
          <a:xfrm>
            <a:off x="1051560" y="475488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PRAVEEN M</a:t>
            </a:r>
          </a:p>
        </p:txBody>
      </p:sp>
      <p:sp>
        <p:nvSpPr>
          <p:cNvPr id="44" name="Text 41"/>
          <p:cNvSpPr/>
          <p:nvPr/>
        </p:nvSpPr>
        <p:spPr>
          <a:xfrm>
            <a:off x="1051560" y="5138928"/>
            <a:ext cx="4572000" cy="274320"/>
          </a:xfrm>
          <a:prstGeom prst="rect">
            <a:avLst/>
          </a:prstGeom>
          <a:noFill/>
          <a:ln/>
        </p:spPr>
        <p:txBody>
          <a:bodyPr wrap="square" lIns="0" tIns="0" rIns="0" bIns="0" rtlCol="0" anchor="ctr"/>
          <a:lstStyle/>
          <a:p>
            <a:pPr marL="0" indent="0">
              <a:buNone/>
            </a:pPr>
            <a:r>
              <a:rPr lang="en-US" sz="1150" dirty="0">
                <a:solidFill>
                  <a:srgbClr val="89A2C4"/>
                </a:solidFill>
                <a:latin typeface="Calibri" pitchFamily="34" charset="0"/>
                <a:ea typeface="Calibri" pitchFamily="34" charset="-122"/>
                <a:cs typeface="Calibri" pitchFamily="34" charset="-120"/>
              </a:rPr>
              <a:t>ANUDIP FOUNDATION  •  BATCH - AI&amp;ML</a:t>
            </a:r>
            <a:endParaRPr lang="en-US" sz="1150" dirty="0"/>
          </a:p>
        </p:txBody>
      </p:sp>
      <p:sp>
        <p:nvSpPr>
          <p:cNvPr id="45" name="Text 42"/>
          <p:cNvSpPr/>
          <p:nvPr/>
        </p:nvSpPr>
        <p:spPr>
          <a:xfrm>
            <a:off x="1051560" y="5394960"/>
            <a:ext cx="4572000" cy="274320"/>
          </a:xfrm>
          <a:prstGeom prst="rect">
            <a:avLst/>
          </a:prstGeom>
          <a:noFill/>
          <a:ln/>
        </p:spPr>
        <p:txBody>
          <a:bodyPr wrap="square" lIns="0" tIns="0" rIns="0" bIns="0" rtlCol="0" anchor="ctr"/>
          <a:lstStyle/>
          <a:p>
            <a:pPr marL="0" indent="0">
              <a:buNone/>
            </a:pPr>
            <a:endParaRPr lang="en-US" sz="1150" dirty="0"/>
          </a:p>
        </p:txBody>
      </p:sp>
      <p:sp>
        <p:nvSpPr>
          <p:cNvPr id="46" name="Shape 43"/>
          <p:cNvSpPr/>
          <p:nvPr/>
        </p:nvSpPr>
        <p:spPr>
          <a:xfrm>
            <a:off x="6263640" y="4343400"/>
            <a:ext cx="5120640" cy="1417320"/>
          </a:xfrm>
          <a:prstGeom prst="roundRect">
            <a:avLst>
              <a:gd name="adj" fmla="val 5161"/>
            </a:avLst>
          </a:prstGeom>
          <a:solidFill>
            <a:srgbClr val="0D2038"/>
          </a:solidFill>
          <a:ln w="9525">
            <a:solidFill>
              <a:srgbClr val="1E3E64"/>
            </a:solidFill>
            <a:prstDash val="solid"/>
          </a:ln>
        </p:spPr>
      </p:sp>
      <p:pic>
        <p:nvPicPr>
          <p:cNvPr id="47" name="Image 1" descr="/home/claude/gridsense/icon_grid.png"/>
          <p:cNvPicPr>
            <a:picLocks noChangeAspect="1"/>
          </p:cNvPicPr>
          <p:nvPr/>
        </p:nvPicPr>
        <p:blipFill>
          <a:blip r:embed="rId4"/>
          <a:stretch>
            <a:fillRect/>
          </a:stretch>
        </p:blipFill>
        <p:spPr>
          <a:xfrm>
            <a:off x="6492240" y="4709160"/>
            <a:ext cx="566928" cy="566928"/>
          </a:xfrm>
          <a:prstGeom prst="rect">
            <a:avLst/>
          </a:prstGeom>
        </p:spPr>
      </p:pic>
      <p:sp>
        <p:nvSpPr>
          <p:cNvPr id="48" name="Text 44"/>
          <p:cNvSpPr/>
          <p:nvPr/>
        </p:nvSpPr>
        <p:spPr>
          <a:xfrm>
            <a:off x="7223760" y="4663440"/>
            <a:ext cx="397764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Smarter Grids, </a:t>
            </a:r>
            <a:r>
              <a:rPr lang="en-US" sz="1500" b="1" dirty="0">
                <a:solidFill>
                  <a:srgbClr val="29D3FF"/>
                </a:solidFill>
                <a:latin typeface="Cambria" pitchFamily="34" charset="0"/>
                <a:ea typeface="Cambria" pitchFamily="34" charset="-122"/>
                <a:cs typeface="Cambria" pitchFamily="34" charset="-120"/>
              </a:rPr>
              <a:t>Greener Tomorrow</a:t>
            </a:r>
            <a:endParaRPr lang="en-US" sz="1500" dirty="0"/>
          </a:p>
        </p:txBody>
      </p:sp>
      <p:sp>
        <p:nvSpPr>
          <p:cNvPr id="49" name="Text 45"/>
          <p:cNvSpPr/>
          <p:nvPr/>
        </p:nvSpPr>
        <p:spPr>
          <a:xfrm>
            <a:off x="7223760" y="5029200"/>
            <a:ext cx="3977640" cy="457200"/>
          </a:xfrm>
          <a:prstGeom prst="rect">
            <a:avLst/>
          </a:prstGeom>
          <a:noFill/>
          <a:ln/>
        </p:spPr>
        <p:txBody>
          <a:bodyPr wrap="square" lIns="0" tIns="0" rIns="0" bIns="0" rtlCol="0" anchor="ctr"/>
          <a:lstStyle/>
          <a:p>
            <a:pPr marL="0" indent="0">
              <a:lnSpc>
                <a:spcPct val="120000"/>
              </a:lnSpc>
              <a:buNone/>
            </a:pPr>
            <a:r>
              <a:rPr lang="en-US" sz="1050" dirty="0">
                <a:solidFill>
                  <a:srgbClr val="89A2C4"/>
                </a:solidFill>
                <a:latin typeface="Calibri" pitchFamily="34" charset="0"/>
                <a:ea typeface="Calibri" pitchFamily="34" charset="-122"/>
                <a:cs typeface="Calibri" pitchFamily="34" charset="-120"/>
              </a:rPr>
              <a:t>Power BI Project Review  •  Energy Analytics &amp; Visualization</a:t>
            </a:r>
            <a:endParaRPr lang="en-US" sz="1050" dirty="0"/>
          </a:p>
        </p:txBody>
      </p:sp>
      <p:sp>
        <p:nvSpPr>
          <p:cNvPr id="54" name="Text 41">
            <a:extLst>
              <a:ext uri="{FF2B5EF4-FFF2-40B4-BE49-F238E27FC236}">
                <a16:creationId xmlns:a16="http://schemas.microsoft.com/office/drawing/2014/main" id="{F1814932-1AEE-DACF-1C9A-810103F5C3B8}"/>
              </a:ext>
            </a:extLst>
          </p:cNvPr>
          <p:cNvSpPr/>
          <p:nvPr/>
        </p:nvSpPr>
        <p:spPr>
          <a:xfrm>
            <a:off x="1028700" y="5352288"/>
            <a:ext cx="4572000" cy="304800"/>
          </a:xfrm>
          <a:prstGeom prst="rect">
            <a:avLst/>
          </a:prstGeom>
          <a:noFill/>
          <a:ln/>
        </p:spPr>
        <p:txBody>
          <a:bodyPr wrap="square" lIns="0" tIns="0" rIns="0" bIns="0" rtlCol="0" anchor="ctr"/>
          <a:lstStyle/>
          <a:p>
            <a:pPr marL="0" indent="0">
              <a:buNone/>
            </a:pPr>
            <a:r>
              <a:rPr lang="en-US" sz="1150" dirty="0">
                <a:solidFill>
                  <a:srgbClr val="89A2C4"/>
                </a:solidFill>
                <a:latin typeface="Calibri" pitchFamily="34" charset="0"/>
                <a:ea typeface="Calibri" pitchFamily="34" charset="-122"/>
                <a:cs typeface="Calibri" pitchFamily="34" charset="-120"/>
              </a:rPr>
              <a:t> ID.no – AF05305017</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INTRODUCTION</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Smart Grid &amp; Energy Analytics</a:t>
            </a:r>
            <a:endParaRPr lang="en-US" sz="32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Why data-driven visibility matters for modern power networks</a:t>
            </a:r>
            <a:endParaRPr lang="en-US" sz="1400" dirty="0"/>
          </a:p>
        </p:txBody>
      </p:sp>
      <p:sp>
        <p:nvSpPr>
          <p:cNvPr id="11" name="Text 8"/>
          <p:cNvSpPr/>
          <p:nvPr/>
        </p:nvSpPr>
        <p:spPr>
          <a:xfrm>
            <a:off x="457200" y="1874520"/>
            <a:ext cx="6309360" cy="420624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1400" dirty="0">
                <a:solidFill>
                  <a:srgbClr val="D7E6FF"/>
                </a:solidFill>
                <a:latin typeface="Calibri" pitchFamily="34" charset="0"/>
                <a:ea typeface="Calibri" pitchFamily="34" charset="-122"/>
                <a:cs typeface="Calibri" pitchFamily="34" charset="-120"/>
              </a:rPr>
              <a:t>A smart grid layers digital sensors, smart meters and two-way communication onto traditional electricity infrastructure.</a:t>
            </a:r>
            <a:endParaRPr lang="en-US" sz="1400" dirty="0"/>
          </a:p>
          <a:p>
            <a:pPr marL="342900" indent="-342900">
              <a:lnSpc>
                <a:spcPct val="112000"/>
              </a:lnSpc>
              <a:spcAft>
                <a:spcPts val="1400"/>
              </a:spcAft>
              <a:buSzPct val="100000"/>
              <a:buChar char="▸"/>
            </a:pPr>
            <a:r>
              <a:rPr lang="en-US" sz="1400" dirty="0">
                <a:solidFill>
                  <a:srgbClr val="D7E6FF"/>
                </a:solidFill>
                <a:latin typeface="Calibri" pitchFamily="34" charset="0"/>
                <a:ea typeface="Calibri" pitchFamily="34" charset="-122"/>
                <a:cs typeface="Calibri" pitchFamily="34" charset="-120"/>
              </a:rPr>
              <a:t>Every meter continuously reports consumption, solar generation, and environmental conditions — generating large volumes of time-series data.</a:t>
            </a:r>
            <a:endParaRPr lang="en-US" sz="1400" dirty="0"/>
          </a:p>
          <a:p>
            <a:pPr marL="342900" indent="-342900">
              <a:lnSpc>
                <a:spcPct val="112000"/>
              </a:lnSpc>
              <a:spcAft>
                <a:spcPts val="1400"/>
              </a:spcAft>
              <a:buSzPct val="100000"/>
              <a:buChar char="▸"/>
            </a:pPr>
            <a:r>
              <a:rPr lang="en-US" sz="1400" dirty="0">
                <a:solidFill>
                  <a:srgbClr val="D7E6FF"/>
                </a:solidFill>
                <a:latin typeface="Calibri" pitchFamily="34" charset="0"/>
                <a:ea typeface="Calibri" pitchFamily="34" charset="-122"/>
                <a:cs typeface="Calibri" pitchFamily="34" charset="-120"/>
              </a:rPr>
              <a:t>Business Intelligence tools like Power BI turn this raw data into interactive dashboards for monitoring, comparison and planning.</a:t>
            </a:r>
            <a:endParaRPr lang="en-US" sz="1400" dirty="0"/>
          </a:p>
          <a:p>
            <a:pPr marL="342900" indent="-342900">
              <a:lnSpc>
                <a:spcPct val="112000"/>
              </a:lnSpc>
              <a:spcAft>
                <a:spcPts val="1400"/>
              </a:spcAft>
              <a:buSzPct val="100000"/>
              <a:buChar char="▸"/>
            </a:pPr>
            <a:r>
              <a:rPr lang="en-US" sz="1400" dirty="0">
                <a:solidFill>
                  <a:srgbClr val="D7E6FF"/>
                </a:solidFill>
                <a:latin typeface="Calibri" pitchFamily="34" charset="0"/>
                <a:ea typeface="Calibri" pitchFamily="34" charset="-122"/>
                <a:cs typeface="Calibri" pitchFamily="34" charset="-120"/>
              </a:rPr>
              <a:t>GridSense AI applies this approach to a cleaned smart-grid dataset, organizing consumption, solar, weather, forecasting and anomaly signals into one analytical model.</a:t>
            </a:r>
            <a:endParaRPr lang="en-US" sz="1400" dirty="0"/>
          </a:p>
        </p:txBody>
      </p:sp>
      <p:sp>
        <p:nvSpPr>
          <p:cNvPr id="12" name="Shape 9"/>
          <p:cNvSpPr/>
          <p:nvPr/>
        </p:nvSpPr>
        <p:spPr>
          <a:xfrm>
            <a:off x="7086600" y="1874520"/>
            <a:ext cx="4617720" cy="4343400"/>
          </a:xfrm>
          <a:prstGeom prst="roundRect">
            <a:avLst>
              <a:gd name="adj" fmla="val 1684"/>
            </a:avLst>
          </a:prstGeom>
          <a:solidFill>
            <a:srgbClr val="0D2038"/>
          </a:solidFill>
          <a:ln w="9525">
            <a:solidFill>
              <a:srgbClr val="1E3E64"/>
            </a:solidFill>
            <a:prstDash val="solid"/>
          </a:ln>
          <a:effectLst>
            <a:outerShdw blurRad="101600" dist="38100" dir="5400000" algn="bl" rotWithShape="0">
              <a:srgbClr val="000000">
                <a:alpha val="35000"/>
              </a:srgbClr>
            </a:outerShdw>
          </a:effectLst>
        </p:spPr>
      </p:sp>
      <p:sp>
        <p:nvSpPr>
          <p:cNvPr id="13" name="Text 10"/>
          <p:cNvSpPr/>
          <p:nvPr/>
        </p:nvSpPr>
        <p:spPr>
          <a:xfrm>
            <a:off x="7360920" y="2103120"/>
            <a:ext cx="3657600" cy="274320"/>
          </a:xfrm>
          <a:prstGeom prst="rect">
            <a:avLst/>
          </a:prstGeom>
          <a:noFill/>
          <a:ln/>
        </p:spPr>
        <p:txBody>
          <a:bodyPr wrap="square" lIns="0" tIns="0" rIns="0" bIns="0" rtlCol="0" anchor="ctr"/>
          <a:lstStyle/>
          <a:p>
            <a:pPr marL="0" indent="0">
              <a:buNone/>
            </a:pPr>
            <a:r>
              <a:rPr lang="en-US" sz="1100" b="1" kern="0" spc="120" dirty="0">
                <a:solidFill>
                  <a:srgbClr val="29D3FF"/>
                </a:solidFill>
                <a:latin typeface="Calibri" pitchFamily="34" charset="0"/>
                <a:ea typeface="Calibri" pitchFamily="34" charset="-122"/>
                <a:cs typeface="Calibri" pitchFamily="34" charset="-120"/>
              </a:rPr>
              <a:t>PROJECT SCOPE SNAPSHOT</a:t>
            </a:r>
            <a:endParaRPr lang="en-US" sz="1100" dirty="0"/>
          </a:p>
        </p:txBody>
      </p:sp>
      <p:sp>
        <p:nvSpPr>
          <p:cNvPr id="14" name="Text 11"/>
          <p:cNvSpPr/>
          <p:nvPr/>
        </p:nvSpPr>
        <p:spPr>
          <a:xfrm>
            <a:off x="7360920" y="2514600"/>
            <a:ext cx="1463040" cy="548640"/>
          </a:xfrm>
          <a:prstGeom prst="rect">
            <a:avLst/>
          </a:prstGeom>
          <a:noFill/>
          <a:ln/>
        </p:spPr>
        <p:txBody>
          <a:bodyPr wrap="square" lIns="0" tIns="0" rIns="0" bIns="0" rtlCol="0" anchor="ctr"/>
          <a:lstStyle/>
          <a:p>
            <a:pPr marL="0" indent="0">
              <a:buNone/>
            </a:pPr>
            <a:r>
              <a:rPr lang="en-US" sz="2600" b="1" dirty="0">
                <a:solidFill>
                  <a:srgbClr val="29D3FF"/>
                </a:solidFill>
                <a:latin typeface="Cambria" pitchFamily="34" charset="0"/>
                <a:ea typeface="Cambria" pitchFamily="34" charset="-122"/>
                <a:cs typeface="Cambria" pitchFamily="34" charset="-120"/>
              </a:rPr>
              <a:t>~20,000</a:t>
            </a:r>
            <a:endParaRPr lang="en-US" sz="2600" dirty="0"/>
          </a:p>
        </p:txBody>
      </p:sp>
      <p:sp>
        <p:nvSpPr>
          <p:cNvPr id="15" name="Text 12"/>
          <p:cNvSpPr/>
          <p:nvPr/>
        </p:nvSpPr>
        <p:spPr>
          <a:xfrm>
            <a:off x="8915400" y="2633472"/>
            <a:ext cx="2514600" cy="457200"/>
          </a:xfrm>
          <a:prstGeom prst="rect">
            <a:avLst/>
          </a:prstGeom>
          <a:noFill/>
          <a:ln/>
        </p:spPr>
        <p:txBody>
          <a:bodyPr wrap="square" lIns="0" tIns="0" rIns="0" bIns="0" rtlCol="0" anchor="ctr"/>
          <a:lstStyle/>
          <a:p>
            <a:pPr marL="0" indent="0">
              <a:buNone/>
            </a:pPr>
            <a:r>
              <a:rPr lang="en-US" sz="1050" dirty="0">
                <a:solidFill>
                  <a:srgbClr val="D7E6FF"/>
                </a:solidFill>
                <a:latin typeface="Calibri" pitchFamily="34" charset="0"/>
                <a:ea typeface="Calibri" pitchFamily="34" charset="-122"/>
                <a:cs typeface="Calibri" pitchFamily="34" charset="-120"/>
              </a:rPr>
              <a:t>SMART METER READINGS</a:t>
            </a:r>
            <a:endParaRPr lang="en-US" sz="1050" dirty="0"/>
          </a:p>
        </p:txBody>
      </p:sp>
      <p:sp>
        <p:nvSpPr>
          <p:cNvPr id="16" name="Shape 13"/>
          <p:cNvSpPr/>
          <p:nvPr/>
        </p:nvSpPr>
        <p:spPr>
          <a:xfrm>
            <a:off x="7360920" y="3291840"/>
            <a:ext cx="4069080" cy="0"/>
          </a:xfrm>
          <a:prstGeom prst="line">
            <a:avLst/>
          </a:prstGeom>
          <a:noFill/>
          <a:ln w="9525">
            <a:solidFill>
              <a:srgbClr val="234668"/>
            </a:solidFill>
            <a:prstDash val="solid"/>
          </a:ln>
        </p:spPr>
      </p:sp>
      <p:sp>
        <p:nvSpPr>
          <p:cNvPr id="17" name="Text 14"/>
          <p:cNvSpPr/>
          <p:nvPr/>
        </p:nvSpPr>
        <p:spPr>
          <a:xfrm>
            <a:off x="7360920" y="3410712"/>
            <a:ext cx="1463040" cy="548640"/>
          </a:xfrm>
          <a:prstGeom prst="rect">
            <a:avLst/>
          </a:prstGeom>
          <a:noFill/>
          <a:ln/>
        </p:spPr>
        <p:txBody>
          <a:bodyPr wrap="square" lIns="0" tIns="0" rIns="0" bIns="0" rtlCol="0" anchor="ctr"/>
          <a:lstStyle/>
          <a:p>
            <a:pPr marL="0" indent="0">
              <a:buNone/>
            </a:pPr>
            <a:r>
              <a:rPr lang="en-US" sz="2600" b="1" dirty="0">
                <a:solidFill>
                  <a:srgbClr val="3ED598"/>
                </a:solidFill>
                <a:latin typeface="Cambria" pitchFamily="34" charset="0"/>
                <a:ea typeface="Cambria" pitchFamily="34" charset="-122"/>
                <a:cs typeface="Cambria" pitchFamily="34" charset="-120"/>
              </a:rPr>
              <a:t>20+</a:t>
            </a:r>
            <a:endParaRPr lang="en-US" sz="2600" dirty="0"/>
          </a:p>
        </p:txBody>
      </p:sp>
      <p:sp>
        <p:nvSpPr>
          <p:cNvPr id="18" name="Text 15"/>
          <p:cNvSpPr/>
          <p:nvPr/>
        </p:nvSpPr>
        <p:spPr>
          <a:xfrm>
            <a:off x="8915400" y="3529584"/>
            <a:ext cx="2514600" cy="457200"/>
          </a:xfrm>
          <a:prstGeom prst="rect">
            <a:avLst/>
          </a:prstGeom>
          <a:noFill/>
          <a:ln/>
        </p:spPr>
        <p:txBody>
          <a:bodyPr wrap="square" lIns="0" tIns="0" rIns="0" bIns="0" rtlCol="0" anchor="ctr"/>
          <a:lstStyle/>
          <a:p>
            <a:pPr marL="0" indent="0">
              <a:buNone/>
            </a:pPr>
            <a:r>
              <a:rPr lang="en-US" sz="1050" dirty="0">
                <a:solidFill>
                  <a:srgbClr val="D7E6FF"/>
                </a:solidFill>
                <a:latin typeface="Calibri" pitchFamily="34" charset="0"/>
                <a:ea typeface="Calibri" pitchFamily="34" charset="-122"/>
                <a:cs typeface="Calibri" pitchFamily="34" charset="-120"/>
              </a:rPr>
              <a:t>ANALYTICAL DATA FIELDS</a:t>
            </a:r>
            <a:endParaRPr lang="en-US" sz="1050" dirty="0"/>
          </a:p>
        </p:txBody>
      </p:sp>
      <p:sp>
        <p:nvSpPr>
          <p:cNvPr id="19" name="Shape 16"/>
          <p:cNvSpPr/>
          <p:nvPr/>
        </p:nvSpPr>
        <p:spPr>
          <a:xfrm>
            <a:off x="7360920" y="4187952"/>
            <a:ext cx="4069080" cy="0"/>
          </a:xfrm>
          <a:prstGeom prst="line">
            <a:avLst/>
          </a:prstGeom>
          <a:noFill/>
          <a:ln w="9525">
            <a:solidFill>
              <a:srgbClr val="234668"/>
            </a:solidFill>
            <a:prstDash val="solid"/>
          </a:ln>
        </p:spPr>
      </p:sp>
      <p:sp>
        <p:nvSpPr>
          <p:cNvPr id="20" name="Text 17"/>
          <p:cNvSpPr/>
          <p:nvPr/>
        </p:nvSpPr>
        <p:spPr>
          <a:xfrm>
            <a:off x="7360920" y="4306824"/>
            <a:ext cx="1463040" cy="548640"/>
          </a:xfrm>
          <a:prstGeom prst="rect">
            <a:avLst/>
          </a:prstGeom>
          <a:noFill/>
          <a:ln/>
        </p:spPr>
        <p:txBody>
          <a:bodyPr wrap="square" lIns="0" tIns="0" rIns="0" bIns="0" rtlCol="0" anchor="ctr"/>
          <a:lstStyle/>
          <a:p>
            <a:pPr marL="0" indent="0">
              <a:buNone/>
            </a:pPr>
            <a:r>
              <a:rPr lang="en-US" sz="2600" b="1" dirty="0">
                <a:solidFill>
                  <a:srgbClr val="FFC94A"/>
                </a:solidFill>
                <a:latin typeface="Cambria" pitchFamily="34" charset="0"/>
                <a:ea typeface="Cambria" pitchFamily="34" charset="-122"/>
                <a:cs typeface="Cambria" pitchFamily="34" charset="-120"/>
              </a:rPr>
              <a:t>4</a:t>
            </a:r>
            <a:endParaRPr lang="en-US" sz="2600" dirty="0"/>
          </a:p>
        </p:txBody>
      </p:sp>
      <p:sp>
        <p:nvSpPr>
          <p:cNvPr id="21" name="Text 18"/>
          <p:cNvSpPr/>
          <p:nvPr/>
        </p:nvSpPr>
        <p:spPr>
          <a:xfrm>
            <a:off x="8915400" y="4425696"/>
            <a:ext cx="2514600" cy="457200"/>
          </a:xfrm>
          <a:prstGeom prst="rect">
            <a:avLst/>
          </a:prstGeom>
          <a:noFill/>
          <a:ln/>
        </p:spPr>
        <p:txBody>
          <a:bodyPr wrap="square" lIns="0" tIns="0" rIns="0" bIns="0" rtlCol="0" anchor="ctr"/>
          <a:lstStyle/>
          <a:p>
            <a:pPr marL="0" indent="0">
              <a:buNone/>
            </a:pPr>
            <a:r>
              <a:rPr lang="en-US" sz="1050" dirty="0">
                <a:solidFill>
                  <a:srgbClr val="D7E6FF"/>
                </a:solidFill>
                <a:latin typeface="Calibri" pitchFamily="34" charset="0"/>
                <a:ea typeface="Calibri" pitchFamily="34" charset="-122"/>
                <a:cs typeface="Calibri" pitchFamily="34" charset="-120"/>
              </a:rPr>
              <a:t>POWER BI DASHBOARD PAGES</a:t>
            </a:r>
            <a:endParaRPr lang="en-US" sz="1050" dirty="0"/>
          </a:p>
        </p:txBody>
      </p:sp>
      <p:sp>
        <p:nvSpPr>
          <p:cNvPr id="22" name="Shape 19"/>
          <p:cNvSpPr/>
          <p:nvPr/>
        </p:nvSpPr>
        <p:spPr>
          <a:xfrm>
            <a:off x="7360920" y="5084064"/>
            <a:ext cx="4069080" cy="0"/>
          </a:xfrm>
          <a:prstGeom prst="line">
            <a:avLst/>
          </a:prstGeom>
          <a:noFill/>
          <a:ln w="9525">
            <a:solidFill>
              <a:srgbClr val="234668"/>
            </a:solidFill>
            <a:prstDash val="solid"/>
          </a:ln>
        </p:spPr>
      </p:sp>
      <p:sp>
        <p:nvSpPr>
          <p:cNvPr id="23" name="Text 20"/>
          <p:cNvSpPr/>
          <p:nvPr/>
        </p:nvSpPr>
        <p:spPr>
          <a:xfrm>
            <a:off x="7360920" y="5202936"/>
            <a:ext cx="1463040" cy="548640"/>
          </a:xfrm>
          <a:prstGeom prst="rect">
            <a:avLst/>
          </a:prstGeom>
          <a:noFill/>
          <a:ln/>
        </p:spPr>
        <p:txBody>
          <a:bodyPr wrap="square" lIns="0" tIns="0" rIns="0" bIns="0" rtlCol="0" anchor="ctr"/>
          <a:lstStyle/>
          <a:p>
            <a:pPr marL="0" indent="0">
              <a:buNone/>
            </a:pPr>
            <a:r>
              <a:rPr lang="en-US" sz="2600" b="1" dirty="0">
                <a:solidFill>
                  <a:srgbClr val="9B8CFF"/>
                </a:solidFill>
                <a:latin typeface="Cambria" pitchFamily="34" charset="0"/>
                <a:ea typeface="Cambria" pitchFamily="34" charset="-122"/>
                <a:cs typeface="Cambria" pitchFamily="34" charset="-120"/>
              </a:rPr>
              <a:t>5</a:t>
            </a:r>
            <a:endParaRPr lang="en-US" sz="2600" dirty="0"/>
          </a:p>
        </p:txBody>
      </p:sp>
      <p:sp>
        <p:nvSpPr>
          <p:cNvPr id="24" name="Text 21"/>
          <p:cNvSpPr/>
          <p:nvPr/>
        </p:nvSpPr>
        <p:spPr>
          <a:xfrm>
            <a:off x="8915400" y="5321808"/>
            <a:ext cx="2514600" cy="457200"/>
          </a:xfrm>
          <a:prstGeom prst="rect">
            <a:avLst/>
          </a:prstGeom>
          <a:noFill/>
          <a:ln/>
        </p:spPr>
        <p:txBody>
          <a:bodyPr wrap="square" lIns="0" tIns="0" rIns="0" bIns="0" rtlCol="0" anchor="ctr"/>
          <a:lstStyle/>
          <a:p>
            <a:pPr marL="0" indent="0">
              <a:buNone/>
            </a:pPr>
            <a:r>
              <a:rPr lang="en-US" sz="1050" dirty="0">
                <a:solidFill>
                  <a:srgbClr val="D7E6FF"/>
                </a:solidFill>
                <a:latin typeface="Calibri" pitchFamily="34" charset="0"/>
                <a:ea typeface="Calibri" pitchFamily="34" charset="-122"/>
                <a:cs typeface="Calibri" pitchFamily="34" charset="-120"/>
              </a:rPr>
              <a:t>REGIONS &amp; BUILDING TYPES TRACKED</a:t>
            </a:r>
            <a:endParaRPr lang="en-US" sz="1050" dirty="0"/>
          </a:p>
        </p:txBody>
      </p:sp>
      <p:sp>
        <p:nvSpPr>
          <p:cNvPr id="25" name="Text 22"/>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26" name="Text 23"/>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PROBLEM STATEMENT</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Problem Statement</a:t>
            </a:r>
            <a:endParaRPr lang="en-US" sz="32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Key challenges in monitoring and safeguarding a modern energy grid</a:t>
            </a:r>
            <a:endParaRPr lang="en-US" sz="1400" dirty="0"/>
          </a:p>
        </p:txBody>
      </p:sp>
      <p:sp>
        <p:nvSpPr>
          <p:cNvPr id="11" name="Shape 8"/>
          <p:cNvSpPr/>
          <p:nvPr/>
        </p:nvSpPr>
        <p:spPr>
          <a:xfrm>
            <a:off x="457200" y="1965960"/>
            <a:ext cx="5532120" cy="1920240"/>
          </a:xfrm>
          <a:prstGeom prst="roundRect">
            <a:avLst>
              <a:gd name="adj" fmla="val 3810"/>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12" name="Shape 9"/>
          <p:cNvSpPr/>
          <p:nvPr/>
        </p:nvSpPr>
        <p:spPr>
          <a:xfrm>
            <a:off x="731520" y="2240280"/>
            <a:ext cx="457200" cy="457200"/>
          </a:xfrm>
          <a:prstGeom prst="ellipse">
            <a:avLst/>
          </a:prstGeom>
          <a:solidFill>
            <a:srgbClr val="15304F"/>
          </a:solidFill>
          <a:ln w="15875">
            <a:solidFill>
              <a:srgbClr val="FF6B6B"/>
            </a:solidFill>
            <a:prstDash val="solid"/>
          </a:ln>
        </p:spPr>
      </p:sp>
      <p:pic>
        <p:nvPicPr>
          <p:cNvPr id="13" name="Image 1" descr="/home/claude/gridsense/icon_eye.png"/>
          <p:cNvPicPr>
            <a:picLocks noChangeAspect="1"/>
          </p:cNvPicPr>
          <p:nvPr/>
        </p:nvPicPr>
        <p:blipFill>
          <a:blip r:embed="rId4"/>
          <a:stretch>
            <a:fillRect/>
          </a:stretch>
        </p:blipFill>
        <p:spPr>
          <a:xfrm>
            <a:off x="850392" y="2359152"/>
            <a:ext cx="219456" cy="219456"/>
          </a:xfrm>
          <a:prstGeom prst="rect">
            <a:avLst/>
          </a:prstGeom>
        </p:spPr>
      </p:pic>
      <p:sp>
        <p:nvSpPr>
          <p:cNvPr id="14" name="Text 10"/>
          <p:cNvSpPr/>
          <p:nvPr/>
        </p:nvSpPr>
        <p:spPr>
          <a:xfrm>
            <a:off x="1371600" y="2221992"/>
            <a:ext cx="4343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Limited Visibility</a:t>
            </a:r>
            <a:endParaRPr lang="en-US" sz="1500" dirty="0"/>
          </a:p>
        </p:txBody>
      </p:sp>
      <p:sp>
        <p:nvSpPr>
          <p:cNvPr id="15" name="Text 11"/>
          <p:cNvSpPr/>
          <p:nvPr/>
        </p:nvSpPr>
        <p:spPr>
          <a:xfrm>
            <a:off x="731520" y="2770632"/>
            <a:ext cx="4983480" cy="960120"/>
          </a:xfrm>
          <a:prstGeom prst="rect">
            <a:avLst/>
          </a:prstGeom>
          <a:noFill/>
          <a:ln/>
        </p:spPr>
        <p:txBody>
          <a:bodyPr wrap="square" lIns="0" tIns="0" rIns="0" bIns="0" rtlCol="0" anchor="ctr"/>
          <a:lstStyle/>
          <a:p>
            <a:pPr marL="0" indent="0">
              <a:lnSpc>
                <a:spcPct val="115000"/>
              </a:lnSpc>
              <a:buNone/>
            </a:pPr>
            <a:r>
              <a:rPr lang="en-US" sz="1150" dirty="0">
                <a:solidFill>
                  <a:srgbClr val="89A2C4"/>
                </a:solidFill>
                <a:latin typeface="Calibri" pitchFamily="34" charset="0"/>
                <a:ea typeface="Calibri" pitchFamily="34" charset="-122"/>
                <a:cs typeface="Calibri" pitchFamily="34" charset="-120"/>
              </a:rPr>
              <a:t>Consumption, solar output and grid health are scattered across systems, with no consolidated real-time view by region or building type.</a:t>
            </a:r>
            <a:endParaRPr lang="en-US" sz="1150" dirty="0"/>
          </a:p>
        </p:txBody>
      </p:sp>
      <p:sp>
        <p:nvSpPr>
          <p:cNvPr id="16" name="Shape 12"/>
          <p:cNvSpPr/>
          <p:nvPr/>
        </p:nvSpPr>
        <p:spPr>
          <a:xfrm>
            <a:off x="6263640" y="1965960"/>
            <a:ext cx="5532120" cy="1920240"/>
          </a:xfrm>
          <a:prstGeom prst="roundRect">
            <a:avLst>
              <a:gd name="adj" fmla="val 3810"/>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17" name="Shape 13"/>
          <p:cNvSpPr/>
          <p:nvPr/>
        </p:nvSpPr>
        <p:spPr>
          <a:xfrm>
            <a:off x="6537960" y="2240280"/>
            <a:ext cx="457200" cy="457200"/>
          </a:xfrm>
          <a:prstGeom prst="ellipse">
            <a:avLst/>
          </a:prstGeom>
          <a:solidFill>
            <a:srgbClr val="15304F"/>
          </a:solidFill>
          <a:ln w="15875">
            <a:solidFill>
              <a:srgbClr val="FF6B6B"/>
            </a:solidFill>
            <a:prstDash val="solid"/>
          </a:ln>
        </p:spPr>
      </p:sp>
      <p:pic>
        <p:nvPicPr>
          <p:cNvPr id="18" name="Image 2" descr="/home/claude/gridsense/icon_alert.png"/>
          <p:cNvPicPr>
            <a:picLocks noChangeAspect="1"/>
          </p:cNvPicPr>
          <p:nvPr/>
        </p:nvPicPr>
        <p:blipFill>
          <a:blip r:embed="rId5"/>
          <a:stretch>
            <a:fillRect/>
          </a:stretch>
        </p:blipFill>
        <p:spPr>
          <a:xfrm>
            <a:off x="6656832" y="2359152"/>
            <a:ext cx="219456" cy="219456"/>
          </a:xfrm>
          <a:prstGeom prst="rect">
            <a:avLst/>
          </a:prstGeom>
        </p:spPr>
      </p:pic>
      <p:sp>
        <p:nvSpPr>
          <p:cNvPr id="19" name="Text 14"/>
          <p:cNvSpPr/>
          <p:nvPr/>
        </p:nvSpPr>
        <p:spPr>
          <a:xfrm>
            <a:off x="7178040" y="2221992"/>
            <a:ext cx="4343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Manual Anomaly Detection</a:t>
            </a:r>
            <a:endParaRPr lang="en-US" sz="1500" dirty="0"/>
          </a:p>
        </p:txBody>
      </p:sp>
      <p:sp>
        <p:nvSpPr>
          <p:cNvPr id="20" name="Text 15"/>
          <p:cNvSpPr/>
          <p:nvPr/>
        </p:nvSpPr>
        <p:spPr>
          <a:xfrm>
            <a:off x="6537960" y="2770632"/>
            <a:ext cx="4983480" cy="960120"/>
          </a:xfrm>
          <a:prstGeom prst="rect">
            <a:avLst/>
          </a:prstGeom>
          <a:noFill/>
          <a:ln/>
        </p:spPr>
        <p:txBody>
          <a:bodyPr wrap="square" lIns="0" tIns="0" rIns="0" bIns="0" rtlCol="0" anchor="ctr"/>
          <a:lstStyle/>
          <a:p>
            <a:pPr marL="0" indent="0">
              <a:lnSpc>
                <a:spcPct val="115000"/>
              </a:lnSpc>
              <a:buNone/>
            </a:pPr>
            <a:r>
              <a:rPr lang="en-US" sz="1150" dirty="0">
                <a:solidFill>
                  <a:srgbClr val="89A2C4"/>
                </a:solidFill>
                <a:latin typeface="Calibri" pitchFamily="34" charset="0"/>
                <a:ea typeface="Calibri" pitchFamily="34" charset="-122"/>
                <a:cs typeface="Calibri" pitchFamily="34" charset="-120"/>
              </a:rPr>
              <a:t>Spotting unusual consumption spikes or faulty readings by manual review is slow, inconsistent and easy to miss.</a:t>
            </a:r>
            <a:endParaRPr lang="en-US" sz="1150" dirty="0"/>
          </a:p>
        </p:txBody>
      </p:sp>
      <p:sp>
        <p:nvSpPr>
          <p:cNvPr id="21" name="Shape 16"/>
          <p:cNvSpPr/>
          <p:nvPr/>
        </p:nvSpPr>
        <p:spPr>
          <a:xfrm>
            <a:off x="457200" y="4160520"/>
            <a:ext cx="5532120" cy="1920240"/>
          </a:xfrm>
          <a:prstGeom prst="roundRect">
            <a:avLst>
              <a:gd name="adj" fmla="val 3810"/>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22" name="Shape 17"/>
          <p:cNvSpPr/>
          <p:nvPr/>
        </p:nvSpPr>
        <p:spPr>
          <a:xfrm>
            <a:off x="731520" y="4434840"/>
            <a:ext cx="457200" cy="457200"/>
          </a:xfrm>
          <a:prstGeom prst="ellipse">
            <a:avLst/>
          </a:prstGeom>
          <a:solidFill>
            <a:srgbClr val="15304F"/>
          </a:solidFill>
          <a:ln w="15875">
            <a:solidFill>
              <a:srgbClr val="FF6B6B"/>
            </a:solidFill>
            <a:prstDash val="solid"/>
          </a:ln>
        </p:spPr>
      </p:sp>
      <p:pic>
        <p:nvPicPr>
          <p:cNvPr id="23" name="Image 3" descr="/home/claude/gridsense/icon_zapoff.png"/>
          <p:cNvPicPr>
            <a:picLocks noChangeAspect="1"/>
          </p:cNvPicPr>
          <p:nvPr/>
        </p:nvPicPr>
        <p:blipFill>
          <a:blip r:embed="rId6"/>
          <a:stretch>
            <a:fillRect/>
          </a:stretch>
        </p:blipFill>
        <p:spPr>
          <a:xfrm>
            <a:off x="850392" y="4553712"/>
            <a:ext cx="219456" cy="219456"/>
          </a:xfrm>
          <a:prstGeom prst="rect">
            <a:avLst/>
          </a:prstGeom>
        </p:spPr>
      </p:pic>
      <p:sp>
        <p:nvSpPr>
          <p:cNvPr id="24" name="Text 18"/>
          <p:cNvSpPr/>
          <p:nvPr/>
        </p:nvSpPr>
        <p:spPr>
          <a:xfrm>
            <a:off x="1371600" y="4416552"/>
            <a:ext cx="4343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Reactive Maintenance</a:t>
            </a:r>
            <a:endParaRPr lang="en-US" sz="1500" dirty="0"/>
          </a:p>
        </p:txBody>
      </p:sp>
      <p:sp>
        <p:nvSpPr>
          <p:cNvPr id="25" name="Text 19"/>
          <p:cNvSpPr/>
          <p:nvPr/>
        </p:nvSpPr>
        <p:spPr>
          <a:xfrm>
            <a:off x="731520" y="4965192"/>
            <a:ext cx="4983480" cy="960120"/>
          </a:xfrm>
          <a:prstGeom prst="rect">
            <a:avLst/>
          </a:prstGeom>
          <a:noFill/>
          <a:ln/>
        </p:spPr>
        <p:txBody>
          <a:bodyPr wrap="square" lIns="0" tIns="0" rIns="0" bIns="0" rtlCol="0" anchor="ctr"/>
          <a:lstStyle/>
          <a:p>
            <a:pPr marL="0" indent="0">
              <a:lnSpc>
                <a:spcPct val="115000"/>
              </a:lnSpc>
              <a:buNone/>
            </a:pPr>
            <a:r>
              <a:rPr lang="en-US" sz="1150" dirty="0">
                <a:solidFill>
                  <a:srgbClr val="89A2C4"/>
                </a:solidFill>
                <a:latin typeface="Calibri" pitchFamily="34" charset="0"/>
                <a:ea typeface="Calibri" pitchFamily="34" charset="-122"/>
                <a:cs typeface="Calibri" pitchFamily="34" charset="-120"/>
              </a:rPr>
              <a:t>Without a structured risk score, sensor faults and outage risks are typically addressed only after failures occur.</a:t>
            </a:r>
            <a:endParaRPr lang="en-US" sz="1150" dirty="0"/>
          </a:p>
        </p:txBody>
      </p:sp>
      <p:sp>
        <p:nvSpPr>
          <p:cNvPr id="26" name="Shape 20"/>
          <p:cNvSpPr/>
          <p:nvPr/>
        </p:nvSpPr>
        <p:spPr>
          <a:xfrm>
            <a:off x="6263640" y="4160520"/>
            <a:ext cx="5532120" cy="1920240"/>
          </a:xfrm>
          <a:prstGeom prst="roundRect">
            <a:avLst>
              <a:gd name="adj" fmla="val 3810"/>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27" name="Shape 21"/>
          <p:cNvSpPr/>
          <p:nvPr/>
        </p:nvSpPr>
        <p:spPr>
          <a:xfrm>
            <a:off x="6537960" y="4434840"/>
            <a:ext cx="457200" cy="457200"/>
          </a:xfrm>
          <a:prstGeom prst="ellipse">
            <a:avLst/>
          </a:prstGeom>
          <a:solidFill>
            <a:srgbClr val="15304F"/>
          </a:solidFill>
          <a:ln w="15875">
            <a:solidFill>
              <a:srgbClr val="FF6B6B"/>
            </a:solidFill>
            <a:prstDash val="solid"/>
          </a:ln>
        </p:spPr>
      </p:sp>
      <p:pic>
        <p:nvPicPr>
          <p:cNvPr id="28" name="Image 4" descr="/home/claude/gridsense/icon_cloud.png"/>
          <p:cNvPicPr>
            <a:picLocks noChangeAspect="1"/>
          </p:cNvPicPr>
          <p:nvPr/>
        </p:nvPicPr>
        <p:blipFill>
          <a:blip r:embed="rId7"/>
          <a:stretch>
            <a:fillRect/>
          </a:stretch>
        </p:blipFill>
        <p:spPr>
          <a:xfrm>
            <a:off x="6656832" y="4553712"/>
            <a:ext cx="219456" cy="219456"/>
          </a:xfrm>
          <a:prstGeom prst="rect">
            <a:avLst/>
          </a:prstGeom>
        </p:spPr>
      </p:pic>
      <p:sp>
        <p:nvSpPr>
          <p:cNvPr id="29" name="Text 22"/>
          <p:cNvSpPr/>
          <p:nvPr/>
        </p:nvSpPr>
        <p:spPr>
          <a:xfrm>
            <a:off x="7178040" y="4416552"/>
            <a:ext cx="4343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Fragmented Weather Insight</a:t>
            </a:r>
            <a:endParaRPr lang="en-US" sz="1500" dirty="0"/>
          </a:p>
        </p:txBody>
      </p:sp>
      <p:sp>
        <p:nvSpPr>
          <p:cNvPr id="30" name="Text 23"/>
          <p:cNvSpPr/>
          <p:nvPr/>
        </p:nvSpPr>
        <p:spPr>
          <a:xfrm>
            <a:off x="6537960" y="4965192"/>
            <a:ext cx="4983480" cy="960120"/>
          </a:xfrm>
          <a:prstGeom prst="rect">
            <a:avLst/>
          </a:prstGeom>
          <a:noFill/>
          <a:ln/>
        </p:spPr>
        <p:txBody>
          <a:bodyPr wrap="square" lIns="0" tIns="0" rIns="0" bIns="0" rtlCol="0" anchor="ctr"/>
          <a:lstStyle/>
          <a:p>
            <a:pPr marL="0" indent="0">
              <a:lnSpc>
                <a:spcPct val="115000"/>
              </a:lnSpc>
              <a:buNone/>
            </a:pPr>
            <a:r>
              <a:rPr lang="en-US" sz="1150" dirty="0">
                <a:solidFill>
                  <a:srgbClr val="89A2C4"/>
                </a:solidFill>
                <a:latin typeface="Calibri" pitchFamily="34" charset="0"/>
                <a:ea typeface="Calibri" pitchFamily="34" charset="-122"/>
                <a:cs typeface="Calibri" pitchFamily="34" charset="-120"/>
              </a:rPr>
              <a:t>Temperature, wind and humidity are rarely analyzed alongside demand, hiding how weather drives consumption.</a:t>
            </a:r>
            <a:endParaRPr lang="en-US" sz="1150" dirty="0"/>
          </a:p>
        </p:txBody>
      </p:sp>
      <p:sp>
        <p:nvSpPr>
          <p:cNvPr id="31" name="Text 24"/>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32" name="Text 25"/>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OBJECTIVES</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Project Objectives</a:t>
            </a:r>
            <a:endParaRPr lang="en-US" sz="32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What GridSense AI sets out to achieve</a:t>
            </a:r>
            <a:endParaRPr lang="en-US" sz="1400" dirty="0"/>
          </a:p>
        </p:txBody>
      </p:sp>
      <p:sp>
        <p:nvSpPr>
          <p:cNvPr id="11" name="Shape 8"/>
          <p:cNvSpPr/>
          <p:nvPr/>
        </p:nvSpPr>
        <p:spPr>
          <a:xfrm>
            <a:off x="457200" y="1874520"/>
            <a:ext cx="420624" cy="420624"/>
          </a:xfrm>
          <a:prstGeom prst="ellipse">
            <a:avLst/>
          </a:prstGeom>
          <a:solidFill>
            <a:srgbClr val="15304F"/>
          </a:solidFill>
          <a:ln w="15875">
            <a:solidFill>
              <a:srgbClr val="29D3FF"/>
            </a:solidFill>
            <a:prstDash val="solid"/>
          </a:ln>
        </p:spPr>
      </p:sp>
      <p:pic>
        <p:nvPicPr>
          <p:cNvPr id="12" name="Image 1" descr="/home/claude/gridsense/icon_database.png"/>
          <p:cNvPicPr>
            <a:picLocks noChangeAspect="1"/>
          </p:cNvPicPr>
          <p:nvPr/>
        </p:nvPicPr>
        <p:blipFill>
          <a:blip r:embed="rId4"/>
          <a:stretch>
            <a:fillRect/>
          </a:stretch>
        </p:blipFill>
        <p:spPr>
          <a:xfrm>
            <a:off x="566562" y="1983882"/>
            <a:ext cx="201900" cy="201900"/>
          </a:xfrm>
          <a:prstGeom prst="rect">
            <a:avLst/>
          </a:prstGeom>
        </p:spPr>
      </p:pic>
      <p:sp>
        <p:nvSpPr>
          <p:cNvPr id="13" name="Text 9"/>
          <p:cNvSpPr/>
          <p:nvPr/>
        </p:nvSpPr>
        <p:spPr>
          <a:xfrm>
            <a:off x="1078992" y="1837944"/>
            <a:ext cx="10625328"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1.  Consolidate multi-source data</a:t>
            </a:r>
            <a:endParaRPr lang="en-US" sz="1450" dirty="0"/>
          </a:p>
        </p:txBody>
      </p:sp>
      <p:sp>
        <p:nvSpPr>
          <p:cNvPr id="14" name="Text 10"/>
          <p:cNvSpPr/>
          <p:nvPr/>
        </p:nvSpPr>
        <p:spPr>
          <a:xfrm>
            <a:off x="1078992" y="2112264"/>
            <a:ext cx="10625328" cy="365760"/>
          </a:xfrm>
          <a:prstGeom prst="rect">
            <a:avLst/>
          </a:prstGeom>
          <a:noFill/>
          <a:ln/>
        </p:spPr>
        <p:txBody>
          <a:bodyPr wrap="square" lIns="0" tIns="0" rIns="0" bIns="0" rtlCol="0" anchor="t"/>
          <a:lstStyle/>
          <a:p>
            <a:pPr marL="0" indent="0">
              <a:lnSpc>
                <a:spcPct val="108000"/>
              </a:lnSpc>
              <a:buNone/>
            </a:pPr>
            <a:r>
              <a:rPr lang="en-US" sz="1150" dirty="0">
                <a:solidFill>
                  <a:srgbClr val="89A2C4"/>
                </a:solidFill>
                <a:latin typeface="Calibri" pitchFamily="34" charset="0"/>
                <a:ea typeface="Calibri" pitchFamily="34" charset="-122"/>
                <a:cs typeface="Calibri" pitchFamily="34" charset="-120"/>
              </a:rPr>
              <a:t>Bring smart meter, solar generation and weather data into a single analytical model.</a:t>
            </a:r>
            <a:endParaRPr lang="en-US" sz="1150" dirty="0"/>
          </a:p>
        </p:txBody>
      </p:sp>
      <p:sp>
        <p:nvSpPr>
          <p:cNvPr id="15" name="Shape 11"/>
          <p:cNvSpPr/>
          <p:nvPr/>
        </p:nvSpPr>
        <p:spPr>
          <a:xfrm>
            <a:off x="457200" y="2587752"/>
            <a:ext cx="11247120" cy="0"/>
          </a:xfrm>
          <a:prstGeom prst="line">
            <a:avLst/>
          </a:prstGeom>
          <a:noFill/>
          <a:ln w="9525">
            <a:solidFill>
              <a:srgbClr val="1B3350"/>
            </a:solidFill>
            <a:prstDash val="solid"/>
          </a:ln>
        </p:spPr>
      </p:sp>
      <p:sp>
        <p:nvSpPr>
          <p:cNvPr id="16" name="Shape 12"/>
          <p:cNvSpPr/>
          <p:nvPr/>
        </p:nvSpPr>
        <p:spPr>
          <a:xfrm>
            <a:off x="457200" y="2715768"/>
            <a:ext cx="420624" cy="420624"/>
          </a:xfrm>
          <a:prstGeom prst="ellipse">
            <a:avLst/>
          </a:prstGeom>
          <a:solidFill>
            <a:srgbClr val="15304F"/>
          </a:solidFill>
          <a:ln w="15875">
            <a:solidFill>
              <a:srgbClr val="29D3FF"/>
            </a:solidFill>
            <a:prstDash val="solid"/>
          </a:ln>
        </p:spPr>
      </p:sp>
      <p:pic>
        <p:nvPicPr>
          <p:cNvPr id="17" name="Image 2" descr="/home/claude/gridsense/icon_monitor.png"/>
          <p:cNvPicPr>
            <a:picLocks noChangeAspect="1"/>
          </p:cNvPicPr>
          <p:nvPr/>
        </p:nvPicPr>
        <p:blipFill>
          <a:blip r:embed="rId5"/>
          <a:stretch>
            <a:fillRect/>
          </a:stretch>
        </p:blipFill>
        <p:spPr>
          <a:xfrm>
            <a:off x="566562" y="2825130"/>
            <a:ext cx="201900" cy="201900"/>
          </a:xfrm>
          <a:prstGeom prst="rect">
            <a:avLst/>
          </a:prstGeom>
        </p:spPr>
      </p:pic>
      <p:sp>
        <p:nvSpPr>
          <p:cNvPr id="18" name="Text 13"/>
          <p:cNvSpPr/>
          <p:nvPr/>
        </p:nvSpPr>
        <p:spPr>
          <a:xfrm>
            <a:off x="1078992" y="2679192"/>
            <a:ext cx="10625328"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2.  Enable real-time visibility</a:t>
            </a:r>
            <a:endParaRPr lang="en-US" sz="1450" dirty="0"/>
          </a:p>
        </p:txBody>
      </p:sp>
      <p:sp>
        <p:nvSpPr>
          <p:cNvPr id="19" name="Text 14"/>
          <p:cNvSpPr/>
          <p:nvPr/>
        </p:nvSpPr>
        <p:spPr>
          <a:xfrm>
            <a:off x="1078992" y="2953512"/>
            <a:ext cx="10625328" cy="365760"/>
          </a:xfrm>
          <a:prstGeom prst="rect">
            <a:avLst/>
          </a:prstGeom>
          <a:noFill/>
          <a:ln/>
        </p:spPr>
        <p:txBody>
          <a:bodyPr wrap="square" lIns="0" tIns="0" rIns="0" bIns="0" rtlCol="0" anchor="t"/>
          <a:lstStyle/>
          <a:p>
            <a:pPr marL="0" indent="0">
              <a:lnSpc>
                <a:spcPct val="108000"/>
              </a:lnSpc>
              <a:buNone/>
            </a:pPr>
            <a:r>
              <a:rPr lang="en-US" sz="1150" dirty="0">
                <a:solidFill>
                  <a:srgbClr val="89A2C4"/>
                </a:solidFill>
                <a:latin typeface="Calibri" pitchFamily="34" charset="0"/>
                <a:ea typeface="Calibri" pitchFamily="34" charset="-122"/>
                <a:cs typeface="Calibri" pitchFamily="34" charset="-120"/>
              </a:rPr>
              <a:t>Surface consumption trends across regions, building types and individual meters.</a:t>
            </a:r>
            <a:endParaRPr lang="en-US" sz="1150" dirty="0"/>
          </a:p>
        </p:txBody>
      </p:sp>
      <p:sp>
        <p:nvSpPr>
          <p:cNvPr id="20" name="Shape 15"/>
          <p:cNvSpPr/>
          <p:nvPr/>
        </p:nvSpPr>
        <p:spPr>
          <a:xfrm>
            <a:off x="457200" y="3429000"/>
            <a:ext cx="11247120" cy="0"/>
          </a:xfrm>
          <a:prstGeom prst="line">
            <a:avLst/>
          </a:prstGeom>
          <a:noFill/>
          <a:ln w="9525">
            <a:solidFill>
              <a:srgbClr val="1B3350"/>
            </a:solidFill>
            <a:prstDash val="solid"/>
          </a:ln>
        </p:spPr>
      </p:sp>
      <p:sp>
        <p:nvSpPr>
          <p:cNvPr id="21" name="Shape 16"/>
          <p:cNvSpPr/>
          <p:nvPr/>
        </p:nvSpPr>
        <p:spPr>
          <a:xfrm>
            <a:off x="457200" y="3557016"/>
            <a:ext cx="420624" cy="420624"/>
          </a:xfrm>
          <a:prstGeom prst="ellipse">
            <a:avLst/>
          </a:prstGeom>
          <a:solidFill>
            <a:srgbClr val="15304F"/>
          </a:solidFill>
          <a:ln w="15875">
            <a:solidFill>
              <a:srgbClr val="29D3FF"/>
            </a:solidFill>
            <a:prstDash val="solid"/>
          </a:ln>
        </p:spPr>
      </p:sp>
      <p:pic>
        <p:nvPicPr>
          <p:cNvPr id="22" name="Image 3" descr="/home/claude/gridsense/icon_shield.png"/>
          <p:cNvPicPr>
            <a:picLocks noChangeAspect="1"/>
          </p:cNvPicPr>
          <p:nvPr/>
        </p:nvPicPr>
        <p:blipFill>
          <a:blip r:embed="rId6"/>
          <a:stretch>
            <a:fillRect/>
          </a:stretch>
        </p:blipFill>
        <p:spPr>
          <a:xfrm>
            <a:off x="566562" y="3666378"/>
            <a:ext cx="201900" cy="201900"/>
          </a:xfrm>
          <a:prstGeom prst="rect">
            <a:avLst/>
          </a:prstGeom>
        </p:spPr>
      </p:pic>
      <p:sp>
        <p:nvSpPr>
          <p:cNvPr id="23" name="Text 17"/>
          <p:cNvSpPr/>
          <p:nvPr/>
        </p:nvSpPr>
        <p:spPr>
          <a:xfrm>
            <a:off x="1078992" y="3520440"/>
            <a:ext cx="10625328"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3.  Surface anomalies &amp; risk early</a:t>
            </a:r>
            <a:endParaRPr lang="en-US" sz="1450" dirty="0"/>
          </a:p>
        </p:txBody>
      </p:sp>
      <p:sp>
        <p:nvSpPr>
          <p:cNvPr id="24" name="Text 18"/>
          <p:cNvSpPr/>
          <p:nvPr/>
        </p:nvSpPr>
        <p:spPr>
          <a:xfrm>
            <a:off x="1078992" y="3794760"/>
            <a:ext cx="10625328" cy="365760"/>
          </a:xfrm>
          <a:prstGeom prst="rect">
            <a:avLst/>
          </a:prstGeom>
          <a:noFill/>
          <a:ln/>
        </p:spPr>
        <p:txBody>
          <a:bodyPr wrap="square" lIns="0" tIns="0" rIns="0" bIns="0" rtlCol="0" anchor="t"/>
          <a:lstStyle/>
          <a:p>
            <a:pPr marL="0" indent="0">
              <a:lnSpc>
                <a:spcPct val="108000"/>
              </a:lnSpc>
              <a:buNone/>
            </a:pPr>
            <a:r>
              <a:rPr lang="en-US" sz="1150" dirty="0">
                <a:solidFill>
                  <a:srgbClr val="89A2C4"/>
                </a:solidFill>
                <a:latin typeface="Calibri" pitchFamily="34" charset="0"/>
                <a:ea typeface="Calibri" pitchFamily="34" charset="-122"/>
                <a:cs typeface="Calibri" pitchFamily="34" charset="-120"/>
              </a:rPr>
              <a:t>Highlight anomaly flags, high-usage events, sensor health and outage risk in one view.</a:t>
            </a:r>
            <a:endParaRPr lang="en-US" sz="1150" dirty="0"/>
          </a:p>
        </p:txBody>
      </p:sp>
      <p:sp>
        <p:nvSpPr>
          <p:cNvPr id="25" name="Shape 19"/>
          <p:cNvSpPr/>
          <p:nvPr/>
        </p:nvSpPr>
        <p:spPr>
          <a:xfrm>
            <a:off x="457200" y="4270248"/>
            <a:ext cx="11247120" cy="0"/>
          </a:xfrm>
          <a:prstGeom prst="line">
            <a:avLst/>
          </a:prstGeom>
          <a:noFill/>
          <a:ln w="9525">
            <a:solidFill>
              <a:srgbClr val="1B3350"/>
            </a:solidFill>
            <a:prstDash val="solid"/>
          </a:ln>
        </p:spPr>
      </p:sp>
      <p:sp>
        <p:nvSpPr>
          <p:cNvPr id="26" name="Shape 20"/>
          <p:cNvSpPr/>
          <p:nvPr/>
        </p:nvSpPr>
        <p:spPr>
          <a:xfrm>
            <a:off x="457200" y="4398264"/>
            <a:ext cx="420624" cy="420624"/>
          </a:xfrm>
          <a:prstGeom prst="ellipse">
            <a:avLst/>
          </a:prstGeom>
          <a:solidFill>
            <a:srgbClr val="15304F"/>
          </a:solidFill>
          <a:ln w="15875">
            <a:solidFill>
              <a:srgbClr val="29D3FF"/>
            </a:solidFill>
            <a:prstDash val="solid"/>
          </a:ln>
        </p:spPr>
      </p:sp>
      <p:pic>
        <p:nvPicPr>
          <p:cNvPr id="27" name="Image 4" descr="/home/claude/gridsense/icon_trendup.png"/>
          <p:cNvPicPr>
            <a:picLocks noChangeAspect="1"/>
          </p:cNvPicPr>
          <p:nvPr/>
        </p:nvPicPr>
        <p:blipFill>
          <a:blip r:embed="rId7"/>
          <a:stretch>
            <a:fillRect/>
          </a:stretch>
        </p:blipFill>
        <p:spPr>
          <a:xfrm>
            <a:off x="566562" y="4507626"/>
            <a:ext cx="201900" cy="201900"/>
          </a:xfrm>
          <a:prstGeom prst="rect">
            <a:avLst/>
          </a:prstGeom>
        </p:spPr>
      </p:pic>
      <p:sp>
        <p:nvSpPr>
          <p:cNvPr id="28" name="Text 21"/>
          <p:cNvSpPr/>
          <p:nvPr/>
        </p:nvSpPr>
        <p:spPr>
          <a:xfrm>
            <a:off x="1078992" y="4361688"/>
            <a:ext cx="10625328"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4.  Support demand planning</a:t>
            </a:r>
            <a:endParaRPr lang="en-US" sz="1450" dirty="0"/>
          </a:p>
        </p:txBody>
      </p:sp>
      <p:sp>
        <p:nvSpPr>
          <p:cNvPr id="29" name="Text 22"/>
          <p:cNvSpPr/>
          <p:nvPr/>
        </p:nvSpPr>
        <p:spPr>
          <a:xfrm>
            <a:off x="1078992" y="4636008"/>
            <a:ext cx="10625328" cy="365760"/>
          </a:xfrm>
          <a:prstGeom prst="rect">
            <a:avLst/>
          </a:prstGeom>
          <a:noFill/>
          <a:ln/>
        </p:spPr>
        <p:txBody>
          <a:bodyPr wrap="square" lIns="0" tIns="0" rIns="0" bIns="0" rtlCol="0" anchor="t"/>
          <a:lstStyle/>
          <a:p>
            <a:pPr marL="0" indent="0">
              <a:lnSpc>
                <a:spcPct val="108000"/>
              </a:lnSpc>
              <a:buNone/>
            </a:pPr>
            <a:r>
              <a:rPr lang="en-US" sz="1150" dirty="0">
                <a:solidFill>
                  <a:srgbClr val="89A2C4"/>
                </a:solidFill>
                <a:latin typeface="Calibri" pitchFamily="34" charset="0"/>
                <a:ea typeface="Calibri" pitchFamily="34" charset="-122"/>
                <a:cs typeface="Calibri" pitchFamily="34" charset="-120"/>
              </a:rPr>
              <a:t>Track forecast error and demand patterns to inform operational and capacity decisions.</a:t>
            </a:r>
            <a:endParaRPr lang="en-US" sz="1150" dirty="0"/>
          </a:p>
        </p:txBody>
      </p:sp>
      <p:sp>
        <p:nvSpPr>
          <p:cNvPr id="30" name="Shape 23"/>
          <p:cNvSpPr/>
          <p:nvPr/>
        </p:nvSpPr>
        <p:spPr>
          <a:xfrm>
            <a:off x="457200" y="5111496"/>
            <a:ext cx="11247120" cy="0"/>
          </a:xfrm>
          <a:prstGeom prst="line">
            <a:avLst/>
          </a:prstGeom>
          <a:noFill/>
          <a:ln w="9525">
            <a:solidFill>
              <a:srgbClr val="1B3350"/>
            </a:solidFill>
            <a:prstDash val="solid"/>
          </a:ln>
        </p:spPr>
      </p:sp>
      <p:sp>
        <p:nvSpPr>
          <p:cNvPr id="31" name="Shape 24"/>
          <p:cNvSpPr/>
          <p:nvPr/>
        </p:nvSpPr>
        <p:spPr>
          <a:xfrm>
            <a:off x="457200" y="5239512"/>
            <a:ext cx="420624" cy="420624"/>
          </a:xfrm>
          <a:prstGeom prst="ellipse">
            <a:avLst/>
          </a:prstGeom>
          <a:solidFill>
            <a:srgbClr val="15304F"/>
          </a:solidFill>
          <a:ln w="15875">
            <a:solidFill>
              <a:srgbClr val="29D3FF"/>
            </a:solidFill>
            <a:prstDash val="solid"/>
          </a:ln>
        </p:spPr>
      </p:sp>
      <p:pic>
        <p:nvPicPr>
          <p:cNvPr id="32" name="Image 5" descr="/home/claude/gridsense/icon_sun.png"/>
          <p:cNvPicPr>
            <a:picLocks noChangeAspect="1"/>
          </p:cNvPicPr>
          <p:nvPr/>
        </p:nvPicPr>
        <p:blipFill>
          <a:blip r:embed="rId8"/>
          <a:stretch>
            <a:fillRect/>
          </a:stretch>
        </p:blipFill>
        <p:spPr>
          <a:xfrm>
            <a:off x="566562" y="5348874"/>
            <a:ext cx="201900" cy="201900"/>
          </a:xfrm>
          <a:prstGeom prst="rect">
            <a:avLst/>
          </a:prstGeom>
        </p:spPr>
      </p:pic>
      <p:sp>
        <p:nvSpPr>
          <p:cNvPr id="33" name="Text 25"/>
          <p:cNvSpPr/>
          <p:nvPr/>
        </p:nvSpPr>
        <p:spPr>
          <a:xfrm>
            <a:off x="1078992" y="5202936"/>
            <a:ext cx="10625328"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5.  Correlate weather &amp; consumption</a:t>
            </a:r>
            <a:endParaRPr lang="en-US" sz="1450" dirty="0"/>
          </a:p>
        </p:txBody>
      </p:sp>
      <p:sp>
        <p:nvSpPr>
          <p:cNvPr id="34" name="Text 26"/>
          <p:cNvSpPr/>
          <p:nvPr/>
        </p:nvSpPr>
        <p:spPr>
          <a:xfrm>
            <a:off x="1078992" y="5477256"/>
            <a:ext cx="10625328" cy="365760"/>
          </a:xfrm>
          <a:prstGeom prst="rect">
            <a:avLst/>
          </a:prstGeom>
          <a:noFill/>
          <a:ln/>
        </p:spPr>
        <p:txBody>
          <a:bodyPr wrap="square" lIns="0" tIns="0" rIns="0" bIns="0" rtlCol="0" anchor="t"/>
          <a:lstStyle/>
          <a:p>
            <a:pPr marL="0" indent="0">
              <a:lnSpc>
                <a:spcPct val="108000"/>
              </a:lnSpc>
              <a:buNone/>
            </a:pPr>
            <a:r>
              <a:rPr lang="en-US" sz="1150" dirty="0">
                <a:solidFill>
                  <a:srgbClr val="89A2C4"/>
                </a:solidFill>
                <a:latin typeface="Calibri" pitchFamily="34" charset="0"/>
                <a:ea typeface="Calibri" pitchFamily="34" charset="-122"/>
                <a:cs typeface="Calibri" pitchFamily="34" charset="-120"/>
              </a:rPr>
              <a:t>Connect temperature, wind and humidity with energy demand and solar output.</a:t>
            </a:r>
            <a:endParaRPr lang="en-US" sz="1150" dirty="0"/>
          </a:p>
        </p:txBody>
      </p:sp>
      <p:sp>
        <p:nvSpPr>
          <p:cNvPr id="35" name="Text 27"/>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36" name="Text 28"/>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PROPOSED SYSTEM</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Proposed System — GridSense AI</a:t>
            </a:r>
            <a:endParaRPr lang="en-US" sz="32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A unified Power BI analytics layer over smart-grid data</a:t>
            </a:r>
            <a:endParaRPr lang="en-US" sz="1400" dirty="0"/>
          </a:p>
        </p:txBody>
      </p:sp>
      <p:sp>
        <p:nvSpPr>
          <p:cNvPr id="11" name="Shape 8"/>
          <p:cNvSpPr/>
          <p:nvPr/>
        </p:nvSpPr>
        <p:spPr>
          <a:xfrm>
            <a:off x="457200" y="1920240"/>
            <a:ext cx="3611880" cy="1965960"/>
          </a:xfrm>
          <a:prstGeom prst="roundRect">
            <a:avLst>
              <a:gd name="adj" fmla="val 3721"/>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12" name="Shape 9"/>
          <p:cNvSpPr/>
          <p:nvPr/>
        </p:nvSpPr>
        <p:spPr>
          <a:xfrm>
            <a:off x="713232" y="2157984"/>
            <a:ext cx="438912" cy="438912"/>
          </a:xfrm>
          <a:prstGeom prst="ellipse">
            <a:avLst/>
          </a:prstGeom>
          <a:solidFill>
            <a:srgbClr val="15304F"/>
          </a:solidFill>
          <a:ln w="15875">
            <a:solidFill>
              <a:srgbClr val="29D3FF"/>
            </a:solidFill>
            <a:prstDash val="solid"/>
          </a:ln>
        </p:spPr>
      </p:sp>
      <p:pic>
        <p:nvPicPr>
          <p:cNvPr id="13" name="Image 1" descr="/home/claude/gridsense/icon_layers.png"/>
          <p:cNvPicPr>
            <a:picLocks noChangeAspect="1"/>
          </p:cNvPicPr>
          <p:nvPr/>
        </p:nvPicPr>
        <p:blipFill>
          <a:blip r:embed="rId4"/>
          <a:stretch>
            <a:fillRect/>
          </a:stretch>
        </p:blipFill>
        <p:spPr>
          <a:xfrm>
            <a:off x="827349" y="2272101"/>
            <a:ext cx="210678" cy="210678"/>
          </a:xfrm>
          <a:prstGeom prst="rect">
            <a:avLst/>
          </a:prstGeom>
        </p:spPr>
      </p:pic>
      <p:sp>
        <p:nvSpPr>
          <p:cNvPr id="14" name="Text 10"/>
          <p:cNvSpPr/>
          <p:nvPr/>
        </p:nvSpPr>
        <p:spPr>
          <a:xfrm>
            <a:off x="713232" y="2724912"/>
            <a:ext cx="3099816"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Unified Data Model</a:t>
            </a:r>
            <a:endParaRPr lang="en-US" sz="1350" dirty="0"/>
          </a:p>
        </p:txBody>
      </p:sp>
      <p:sp>
        <p:nvSpPr>
          <p:cNvPr id="15" name="Text 11"/>
          <p:cNvSpPr/>
          <p:nvPr/>
        </p:nvSpPr>
        <p:spPr>
          <a:xfrm>
            <a:off x="713232" y="3072384"/>
            <a:ext cx="3099816" cy="685800"/>
          </a:xfrm>
          <a:prstGeom prst="rect">
            <a:avLst/>
          </a:prstGeom>
          <a:noFill/>
          <a:ln/>
        </p:spPr>
        <p:txBody>
          <a:bodyPr wrap="square" lIns="0" tIns="0" rIns="0" bIns="0" rtlCol="0" anchor="ctr"/>
          <a:lstStyle/>
          <a:p>
            <a:pPr marL="0" indent="0">
              <a:lnSpc>
                <a:spcPct val="112000"/>
              </a:lnSpc>
              <a:buNone/>
            </a:pPr>
            <a:r>
              <a:rPr lang="en-US" sz="1050" dirty="0">
                <a:solidFill>
                  <a:srgbClr val="89A2C4"/>
                </a:solidFill>
                <a:latin typeface="Calibri" pitchFamily="34" charset="0"/>
                <a:ea typeface="Calibri" pitchFamily="34" charset="-122"/>
                <a:cs typeface="Calibri" pitchFamily="34" charset="-120"/>
              </a:rPr>
              <a:t>Meter, solar, weather and risk fields combined into one Power BI data model.</a:t>
            </a:r>
            <a:endParaRPr lang="en-US" sz="1050" dirty="0"/>
          </a:p>
        </p:txBody>
      </p:sp>
      <p:sp>
        <p:nvSpPr>
          <p:cNvPr id="16" name="Shape 12"/>
          <p:cNvSpPr/>
          <p:nvPr/>
        </p:nvSpPr>
        <p:spPr>
          <a:xfrm>
            <a:off x="4270248" y="1920240"/>
            <a:ext cx="3611880" cy="1965960"/>
          </a:xfrm>
          <a:prstGeom prst="roundRect">
            <a:avLst>
              <a:gd name="adj" fmla="val 3721"/>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17" name="Shape 13"/>
          <p:cNvSpPr/>
          <p:nvPr/>
        </p:nvSpPr>
        <p:spPr>
          <a:xfrm>
            <a:off x="4526280" y="2157984"/>
            <a:ext cx="438912" cy="438912"/>
          </a:xfrm>
          <a:prstGeom prst="ellipse">
            <a:avLst/>
          </a:prstGeom>
          <a:solidFill>
            <a:srgbClr val="15304F"/>
          </a:solidFill>
          <a:ln w="15875">
            <a:solidFill>
              <a:srgbClr val="29D3FF"/>
            </a:solidFill>
            <a:prstDash val="solid"/>
          </a:ln>
        </p:spPr>
      </p:sp>
      <p:pic>
        <p:nvPicPr>
          <p:cNvPr id="18" name="Image 2" descr="/home/claude/gridsense/icon_settings.png"/>
          <p:cNvPicPr>
            <a:picLocks noChangeAspect="1"/>
          </p:cNvPicPr>
          <p:nvPr/>
        </p:nvPicPr>
        <p:blipFill>
          <a:blip r:embed="rId5"/>
          <a:stretch>
            <a:fillRect/>
          </a:stretch>
        </p:blipFill>
        <p:spPr>
          <a:xfrm>
            <a:off x="4640397" y="2272101"/>
            <a:ext cx="210678" cy="210678"/>
          </a:xfrm>
          <a:prstGeom prst="rect">
            <a:avLst/>
          </a:prstGeom>
        </p:spPr>
      </p:pic>
      <p:sp>
        <p:nvSpPr>
          <p:cNvPr id="19" name="Text 14"/>
          <p:cNvSpPr/>
          <p:nvPr/>
        </p:nvSpPr>
        <p:spPr>
          <a:xfrm>
            <a:off x="4526280" y="2724912"/>
            <a:ext cx="3099816"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Interactive Filtering</a:t>
            </a:r>
            <a:endParaRPr lang="en-US" sz="1350" dirty="0"/>
          </a:p>
        </p:txBody>
      </p:sp>
      <p:sp>
        <p:nvSpPr>
          <p:cNvPr id="20" name="Text 15"/>
          <p:cNvSpPr/>
          <p:nvPr/>
        </p:nvSpPr>
        <p:spPr>
          <a:xfrm>
            <a:off x="4526280" y="3072384"/>
            <a:ext cx="3099816" cy="685800"/>
          </a:xfrm>
          <a:prstGeom prst="rect">
            <a:avLst/>
          </a:prstGeom>
          <a:noFill/>
          <a:ln/>
        </p:spPr>
        <p:txBody>
          <a:bodyPr wrap="square" lIns="0" tIns="0" rIns="0" bIns="0" rtlCol="0" anchor="ctr"/>
          <a:lstStyle/>
          <a:p>
            <a:pPr marL="0" indent="0">
              <a:lnSpc>
                <a:spcPct val="112000"/>
              </a:lnSpc>
              <a:buNone/>
            </a:pPr>
            <a:r>
              <a:rPr lang="en-US" sz="1050" dirty="0">
                <a:solidFill>
                  <a:srgbClr val="89A2C4"/>
                </a:solidFill>
                <a:latin typeface="Calibri" pitchFamily="34" charset="0"/>
                <a:ea typeface="Calibri" pitchFamily="34" charset="-122"/>
                <a:cs typeface="Calibri" pitchFamily="34" charset="-120"/>
              </a:rPr>
              <a:t>Slice every page by date range, region, building type and meter ID.</a:t>
            </a:r>
            <a:endParaRPr lang="en-US" sz="1050" dirty="0"/>
          </a:p>
        </p:txBody>
      </p:sp>
      <p:sp>
        <p:nvSpPr>
          <p:cNvPr id="21" name="Shape 16"/>
          <p:cNvSpPr/>
          <p:nvPr/>
        </p:nvSpPr>
        <p:spPr>
          <a:xfrm>
            <a:off x="8083296" y="1920240"/>
            <a:ext cx="3611880" cy="1965960"/>
          </a:xfrm>
          <a:prstGeom prst="roundRect">
            <a:avLst>
              <a:gd name="adj" fmla="val 3721"/>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22" name="Shape 17"/>
          <p:cNvSpPr/>
          <p:nvPr/>
        </p:nvSpPr>
        <p:spPr>
          <a:xfrm>
            <a:off x="8339328" y="2157984"/>
            <a:ext cx="438912" cy="438912"/>
          </a:xfrm>
          <a:prstGeom prst="ellipse">
            <a:avLst/>
          </a:prstGeom>
          <a:solidFill>
            <a:srgbClr val="15304F"/>
          </a:solidFill>
          <a:ln w="15875">
            <a:solidFill>
              <a:srgbClr val="29D3FF"/>
            </a:solidFill>
            <a:prstDash val="solid"/>
          </a:ln>
        </p:spPr>
      </p:sp>
      <p:pic>
        <p:nvPicPr>
          <p:cNvPr id="23" name="Image 3" descr="/home/claude/gridsense/icon_alert.png"/>
          <p:cNvPicPr>
            <a:picLocks noChangeAspect="1"/>
          </p:cNvPicPr>
          <p:nvPr/>
        </p:nvPicPr>
        <p:blipFill>
          <a:blip r:embed="rId6"/>
          <a:stretch>
            <a:fillRect/>
          </a:stretch>
        </p:blipFill>
        <p:spPr>
          <a:xfrm>
            <a:off x="8453445" y="2272101"/>
            <a:ext cx="210678" cy="210678"/>
          </a:xfrm>
          <a:prstGeom prst="rect">
            <a:avLst/>
          </a:prstGeom>
        </p:spPr>
      </p:pic>
      <p:sp>
        <p:nvSpPr>
          <p:cNvPr id="24" name="Text 18"/>
          <p:cNvSpPr/>
          <p:nvPr/>
        </p:nvSpPr>
        <p:spPr>
          <a:xfrm>
            <a:off x="8339328" y="2724912"/>
            <a:ext cx="3099816"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Anomaly &amp; Risk Monitoring</a:t>
            </a:r>
            <a:endParaRPr lang="en-US" sz="1350" dirty="0"/>
          </a:p>
        </p:txBody>
      </p:sp>
      <p:sp>
        <p:nvSpPr>
          <p:cNvPr id="25" name="Text 19"/>
          <p:cNvSpPr/>
          <p:nvPr/>
        </p:nvSpPr>
        <p:spPr>
          <a:xfrm>
            <a:off x="8339328" y="3072384"/>
            <a:ext cx="3099816" cy="685800"/>
          </a:xfrm>
          <a:prstGeom prst="rect">
            <a:avLst/>
          </a:prstGeom>
          <a:noFill/>
          <a:ln/>
        </p:spPr>
        <p:txBody>
          <a:bodyPr wrap="square" lIns="0" tIns="0" rIns="0" bIns="0" rtlCol="0" anchor="ctr"/>
          <a:lstStyle/>
          <a:p>
            <a:pPr marL="0" indent="0">
              <a:lnSpc>
                <a:spcPct val="112000"/>
              </a:lnSpc>
              <a:buNone/>
            </a:pPr>
            <a:r>
              <a:rPr lang="en-US" sz="1050" dirty="0">
                <a:solidFill>
                  <a:srgbClr val="89A2C4"/>
                </a:solidFill>
                <a:latin typeface="Calibri" pitchFamily="34" charset="0"/>
                <a:ea typeface="Calibri" pitchFamily="34" charset="-122"/>
                <a:cs typeface="Calibri" pitchFamily="34" charset="-120"/>
              </a:rPr>
              <a:t>Anomaly flags, risk categories and outage risk scoring surfaced visually.</a:t>
            </a:r>
            <a:endParaRPr lang="en-US" sz="1050" dirty="0"/>
          </a:p>
        </p:txBody>
      </p:sp>
      <p:sp>
        <p:nvSpPr>
          <p:cNvPr id="26" name="Shape 20"/>
          <p:cNvSpPr/>
          <p:nvPr/>
        </p:nvSpPr>
        <p:spPr>
          <a:xfrm>
            <a:off x="457200" y="4142232"/>
            <a:ext cx="3611880" cy="1965960"/>
          </a:xfrm>
          <a:prstGeom prst="roundRect">
            <a:avLst>
              <a:gd name="adj" fmla="val 3721"/>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27" name="Shape 21"/>
          <p:cNvSpPr/>
          <p:nvPr/>
        </p:nvSpPr>
        <p:spPr>
          <a:xfrm>
            <a:off x="713232" y="4379976"/>
            <a:ext cx="438912" cy="438912"/>
          </a:xfrm>
          <a:prstGeom prst="ellipse">
            <a:avLst/>
          </a:prstGeom>
          <a:solidFill>
            <a:srgbClr val="15304F"/>
          </a:solidFill>
          <a:ln w="15875">
            <a:solidFill>
              <a:srgbClr val="29D3FF"/>
            </a:solidFill>
            <a:prstDash val="solid"/>
          </a:ln>
        </p:spPr>
      </p:sp>
      <p:pic>
        <p:nvPicPr>
          <p:cNvPr id="28" name="Image 4" descr="/home/claude/gridsense/icon_barchart.png"/>
          <p:cNvPicPr>
            <a:picLocks noChangeAspect="1"/>
          </p:cNvPicPr>
          <p:nvPr/>
        </p:nvPicPr>
        <p:blipFill>
          <a:blip r:embed="rId7"/>
          <a:stretch>
            <a:fillRect/>
          </a:stretch>
        </p:blipFill>
        <p:spPr>
          <a:xfrm>
            <a:off x="827349" y="4494093"/>
            <a:ext cx="210678" cy="210678"/>
          </a:xfrm>
          <a:prstGeom prst="rect">
            <a:avLst/>
          </a:prstGeom>
        </p:spPr>
      </p:pic>
      <p:sp>
        <p:nvSpPr>
          <p:cNvPr id="29" name="Text 22"/>
          <p:cNvSpPr/>
          <p:nvPr/>
        </p:nvSpPr>
        <p:spPr>
          <a:xfrm>
            <a:off x="713232" y="4946904"/>
            <a:ext cx="3099816"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Forecast Insight</a:t>
            </a:r>
            <a:endParaRPr lang="en-US" sz="1350" dirty="0"/>
          </a:p>
        </p:txBody>
      </p:sp>
      <p:sp>
        <p:nvSpPr>
          <p:cNvPr id="30" name="Text 23"/>
          <p:cNvSpPr/>
          <p:nvPr/>
        </p:nvSpPr>
        <p:spPr>
          <a:xfrm>
            <a:off x="713232" y="5294376"/>
            <a:ext cx="3099816" cy="685800"/>
          </a:xfrm>
          <a:prstGeom prst="rect">
            <a:avLst/>
          </a:prstGeom>
          <a:noFill/>
          <a:ln/>
        </p:spPr>
        <p:txBody>
          <a:bodyPr wrap="square" lIns="0" tIns="0" rIns="0" bIns="0" rtlCol="0" anchor="ctr"/>
          <a:lstStyle/>
          <a:p>
            <a:pPr marL="0" indent="0">
              <a:lnSpc>
                <a:spcPct val="112000"/>
              </a:lnSpc>
              <a:buNone/>
            </a:pPr>
            <a:r>
              <a:rPr lang="en-US" sz="1050" dirty="0">
                <a:solidFill>
                  <a:srgbClr val="89A2C4"/>
                </a:solidFill>
                <a:latin typeface="Calibri" pitchFamily="34" charset="0"/>
                <a:ea typeface="Calibri" pitchFamily="34" charset="-122"/>
                <a:cs typeface="Calibri" pitchFamily="34" charset="-120"/>
              </a:rPr>
              <a:t>Actual vs. predicted consumption and forecast error tracked over time.</a:t>
            </a:r>
            <a:endParaRPr lang="en-US" sz="1050" dirty="0"/>
          </a:p>
        </p:txBody>
      </p:sp>
      <p:sp>
        <p:nvSpPr>
          <p:cNvPr id="31" name="Shape 24"/>
          <p:cNvSpPr/>
          <p:nvPr/>
        </p:nvSpPr>
        <p:spPr>
          <a:xfrm>
            <a:off x="4270248" y="4142232"/>
            <a:ext cx="3611880" cy="1965960"/>
          </a:xfrm>
          <a:prstGeom prst="roundRect">
            <a:avLst>
              <a:gd name="adj" fmla="val 3721"/>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32" name="Shape 25"/>
          <p:cNvSpPr/>
          <p:nvPr/>
        </p:nvSpPr>
        <p:spPr>
          <a:xfrm>
            <a:off x="4526280" y="4379976"/>
            <a:ext cx="438912" cy="438912"/>
          </a:xfrm>
          <a:prstGeom prst="ellipse">
            <a:avLst/>
          </a:prstGeom>
          <a:solidFill>
            <a:srgbClr val="15304F"/>
          </a:solidFill>
          <a:ln w="15875">
            <a:solidFill>
              <a:srgbClr val="29D3FF"/>
            </a:solidFill>
            <a:prstDash val="solid"/>
          </a:ln>
        </p:spPr>
      </p:sp>
      <p:pic>
        <p:nvPicPr>
          <p:cNvPr id="33" name="Image 5" descr="/home/claude/gridsense/icon_cloud.png"/>
          <p:cNvPicPr>
            <a:picLocks noChangeAspect="1"/>
          </p:cNvPicPr>
          <p:nvPr/>
        </p:nvPicPr>
        <p:blipFill>
          <a:blip r:embed="rId8"/>
          <a:stretch>
            <a:fillRect/>
          </a:stretch>
        </p:blipFill>
        <p:spPr>
          <a:xfrm>
            <a:off x="4640397" y="4494093"/>
            <a:ext cx="210678" cy="210678"/>
          </a:xfrm>
          <a:prstGeom prst="rect">
            <a:avLst/>
          </a:prstGeom>
        </p:spPr>
      </p:pic>
      <p:sp>
        <p:nvSpPr>
          <p:cNvPr id="34" name="Text 26"/>
          <p:cNvSpPr/>
          <p:nvPr/>
        </p:nvSpPr>
        <p:spPr>
          <a:xfrm>
            <a:off x="4526280" y="4946904"/>
            <a:ext cx="3099816"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Weather Correlation</a:t>
            </a:r>
            <a:endParaRPr lang="en-US" sz="1350" dirty="0"/>
          </a:p>
        </p:txBody>
      </p:sp>
      <p:sp>
        <p:nvSpPr>
          <p:cNvPr id="35" name="Text 27"/>
          <p:cNvSpPr/>
          <p:nvPr/>
        </p:nvSpPr>
        <p:spPr>
          <a:xfrm>
            <a:off x="4526280" y="5294376"/>
            <a:ext cx="3099816" cy="685800"/>
          </a:xfrm>
          <a:prstGeom prst="rect">
            <a:avLst/>
          </a:prstGeom>
          <a:noFill/>
          <a:ln/>
        </p:spPr>
        <p:txBody>
          <a:bodyPr wrap="square" lIns="0" tIns="0" rIns="0" bIns="0" rtlCol="0" anchor="ctr"/>
          <a:lstStyle/>
          <a:p>
            <a:pPr marL="0" indent="0">
              <a:lnSpc>
                <a:spcPct val="112000"/>
              </a:lnSpc>
              <a:buNone/>
            </a:pPr>
            <a:r>
              <a:rPr lang="en-US" sz="1050" dirty="0">
                <a:solidFill>
                  <a:srgbClr val="89A2C4"/>
                </a:solidFill>
                <a:latin typeface="Calibri" pitchFamily="34" charset="0"/>
                <a:ea typeface="Calibri" pitchFamily="34" charset="-122"/>
                <a:cs typeface="Calibri" pitchFamily="34" charset="-120"/>
              </a:rPr>
              <a:t>Temperature, wind and humidity analyzed against demand and solar output.</a:t>
            </a:r>
            <a:endParaRPr lang="en-US" sz="1050" dirty="0"/>
          </a:p>
        </p:txBody>
      </p:sp>
      <p:sp>
        <p:nvSpPr>
          <p:cNvPr id="36" name="Shape 28"/>
          <p:cNvSpPr/>
          <p:nvPr/>
        </p:nvSpPr>
        <p:spPr>
          <a:xfrm>
            <a:off x="8083296" y="4142232"/>
            <a:ext cx="3611880" cy="1965960"/>
          </a:xfrm>
          <a:prstGeom prst="roundRect">
            <a:avLst>
              <a:gd name="adj" fmla="val 3721"/>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37" name="Shape 29"/>
          <p:cNvSpPr/>
          <p:nvPr/>
        </p:nvSpPr>
        <p:spPr>
          <a:xfrm>
            <a:off x="8339328" y="4379976"/>
            <a:ext cx="438912" cy="438912"/>
          </a:xfrm>
          <a:prstGeom prst="ellipse">
            <a:avLst/>
          </a:prstGeom>
          <a:solidFill>
            <a:srgbClr val="15304F"/>
          </a:solidFill>
          <a:ln w="15875">
            <a:solidFill>
              <a:srgbClr val="29D3FF"/>
            </a:solidFill>
            <a:prstDash val="solid"/>
          </a:ln>
        </p:spPr>
      </p:sp>
      <p:pic>
        <p:nvPicPr>
          <p:cNvPr id="38" name="Image 6" descr="/home/claude/gridsense/icon_cpu.png"/>
          <p:cNvPicPr>
            <a:picLocks noChangeAspect="1"/>
          </p:cNvPicPr>
          <p:nvPr/>
        </p:nvPicPr>
        <p:blipFill>
          <a:blip r:embed="rId9"/>
          <a:stretch>
            <a:fillRect/>
          </a:stretch>
        </p:blipFill>
        <p:spPr>
          <a:xfrm>
            <a:off x="8453445" y="4494093"/>
            <a:ext cx="210678" cy="210678"/>
          </a:xfrm>
          <a:prstGeom prst="rect">
            <a:avLst/>
          </a:prstGeom>
        </p:spPr>
      </p:pic>
      <p:sp>
        <p:nvSpPr>
          <p:cNvPr id="39" name="Text 30"/>
          <p:cNvSpPr/>
          <p:nvPr/>
        </p:nvSpPr>
        <p:spPr>
          <a:xfrm>
            <a:off x="8339328" y="4946904"/>
            <a:ext cx="3099816"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DAX-Driven KPIs</a:t>
            </a:r>
            <a:endParaRPr lang="en-US" sz="1350" dirty="0"/>
          </a:p>
        </p:txBody>
      </p:sp>
      <p:sp>
        <p:nvSpPr>
          <p:cNvPr id="40" name="Text 31"/>
          <p:cNvSpPr/>
          <p:nvPr/>
        </p:nvSpPr>
        <p:spPr>
          <a:xfrm>
            <a:off x="8339328" y="5294376"/>
            <a:ext cx="3099816" cy="685800"/>
          </a:xfrm>
          <a:prstGeom prst="rect">
            <a:avLst/>
          </a:prstGeom>
          <a:noFill/>
          <a:ln/>
        </p:spPr>
        <p:txBody>
          <a:bodyPr wrap="square" lIns="0" tIns="0" rIns="0" bIns="0" rtlCol="0" anchor="ctr"/>
          <a:lstStyle/>
          <a:p>
            <a:pPr marL="0" indent="0">
              <a:lnSpc>
                <a:spcPct val="112000"/>
              </a:lnSpc>
              <a:buNone/>
            </a:pPr>
            <a:r>
              <a:rPr lang="en-US" sz="1050" dirty="0">
                <a:solidFill>
                  <a:srgbClr val="89A2C4"/>
                </a:solidFill>
                <a:latin typeface="Calibri" pitchFamily="34" charset="0"/>
                <a:ea typeface="Calibri" pitchFamily="34" charset="-122"/>
                <a:cs typeface="Calibri" pitchFamily="34" charset="-120"/>
              </a:rPr>
              <a:t>Custom DAX measures power every KPI card across the four dashboard pages.</a:t>
            </a:r>
            <a:endParaRPr lang="en-US" sz="1050" dirty="0"/>
          </a:p>
        </p:txBody>
      </p:sp>
      <p:sp>
        <p:nvSpPr>
          <p:cNvPr id="41" name="Text 32"/>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42" name="Text 33"/>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DATASET &amp; TECH</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Dataset &amp; Technologies Used</a:t>
            </a:r>
            <a:endParaRPr lang="en-US" sz="32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~20,000-row cleaned smart-grid dataset, modeled and visualized in Power BI</a:t>
            </a:r>
            <a:endParaRPr lang="en-US" sz="1400" dirty="0"/>
          </a:p>
        </p:txBody>
      </p:sp>
      <p:sp>
        <p:nvSpPr>
          <p:cNvPr id="11" name="Shape 8"/>
          <p:cNvSpPr/>
          <p:nvPr/>
        </p:nvSpPr>
        <p:spPr>
          <a:xfrm>
            <a:off x="457200" y="1874520"/>
            <a:ext cx="6492240" cy="4343400"/>
          </a:xfrm>
          <a:prstGeom prst="roundRect">
            <a:avLst>
              <a:gd name="adj" fmla="val 1684"/>
            </a:avLst>
          </a:prstGeom>
          <a:solidFill>
            <a:srgbClr val="0D2038"/>
          </a:solidFill>
          <a:ln w="9525">
            <a:solidFill>
              <a:srgbClr val="1E3E64"/>
            </a:solidFill>
            <a:prstDash val="solid"/>
          </a:ln>
          <a:effectLst>
            <a:outerShdw blurRad="101600" dist="38100" dir="5400000" algn="bl" rotWithShape="0">
              <a:srgbClr val="000000">
                <a:alpha val="35000"/>
              </a:srgbClr>
            </a:outerShdw>
          </a:effectLst>
        </p:spPr>
      </p:sp>
      <p:sp>
        <p:nvSpPr>
          <p:cNvPr id="12" name="Text 9"/>
          <p:cNvSpPr/>
          <p:nvPr/>
        </p:nvSpPr>
        <p:spPr>
          <a:xfrm>
            <a:off x="731520" y="2084832"/>
            <a:ext cx="3657600" cy="274320"/>
          </a:xfrm>
          <a:prstGeom prst="rect">
            <a:avLst/>
          </a:prstGeom>
          <a:noFill/>
          <a:ln/>
        </p:spPr>
        <p:txBody>
          <a:bodyPr wrap="square" lIns="0" tIns="0" rIns="0" bIns="0" rtlCol="0" anchor="ctr"/>
          <a:lstStyle/>
          <a:p>
            <a:pPr marL="0" indent="0">
              <a:buNone/>
            </a:pPr>
            <a:r>
              <a:rPr lang="en-US" sz="1100" b="1" kern="0" spc="120" dirty="0">
                <a:solidFill>
                  <a:srgbClr val="29D3FF"/>
                </a:solidFill>
                <a:latin typeface="Calibri" pitchFamily="34" charset="0"/>
                <a:ea typeface="Calibri" pitchFamily="34" charset="-122"/>
                <a:cs typeface="Calibri" pitchFamily="34" charset="-120"/>
              </a:rPr>
              <a:t>DATASET FIELD GROUPS</a:t>
            </a:r>
            <a:endParaRPr lang="en-US" sz="1100" dirty="0"/>
          </a:p>
        </p:txBody>
      </p:sp>
      <p:sp>
        <p:nvSpPr>
          <p:cNvPr id="13" name="Shape 10"/>
          <p:cNvSpPr/>
          <p:nvPr/>
        </p:nvSpPr>
        <p:spPr>
          <a:xfrm>
            <a:off x="731520" y="2505456"/>
            <a:ext cx="91440" cy="91440"/>
          </a:xfrm>
          <a:prstGeom prst="ellipse">
            <a:avLst/>
          </a:prstGeom>
          <a:solidFill>
            <a:srgbClr val="29D3FF"/>
          </a:solidFill>
          <a:ln/>
        </p:spPr>
      </p:sp>
      <p:sp>
        <p:nvSpPr>
          <p:cNvPr id="14" name="Text 11"/>
          <p:cNvSpPr/>
          <p:nvPr/>
        </p:nvSpPr>
        <p:spPr>
          <a:xfrm>
            <a:off x="960120" y="2395728"/>
            <a:ext cx="56692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Time &amp; Identifiers</a:t>
            </a:r>
            <a:endParaRPr lang="en-US" sz="1300" dirty="0"/>
          </a:p>
        </p:txBody>
      </p:sp>
      <p:sp>
        <p:nvSpPr>
          <p:cNvPr id="15" name="Text 12"/>
          <p:cNvSpPr/>
          <p:nvPr/>
        </p:nvSpPr>
        <p:spPr>
          <a:xfrm>
            <a:off x="960120" y="2670048"/>
            <a:ext cx="5669280" cy="502920"/>
          </a:xfrm>
          <a:prstGeom prst="rect">
            <a:avLst/>
          </a:prstGeom>
          <a:noFill/>
          <a:ln/>
        </p:spPr>
        <p:txBody>
          <a:bodyPr wrap="square" lIns="0" tIns="0" rIns="0" bIns="0" rtlCol="0" anchor="ctr"/>
          <a:lstStyle/>
          <a:p>
            <a:pPr marL="0" indent="0">
              <a:lnSpc>
                <a:spcPct val="115000"/>
              </a:lnSpc>
              <a:buNone/>
            </a:pPr>
            <a:r>
              <a:rPr lang="en-US" sz="1050" dirty="0">
                <a:solidFill>
                  <a:srgbClr val="89A2C4"/>
                </a:solidFill>
                <a:latin typeface="Calibri" pitchFamily="34" charset="0"/>
                <a:ea typeface="Calibri" pitchFamily="34" charset="-122"/>
                <a:cs typeface="Calibri" pitchFamily="34" charset="-120"/>
              </a:rPr>
              <a:t>timestamp, date, month, day_name, meter_id, region, building_type</a:t>
            </a:r>
            <a:endParaRPr lang="en-US" sz="1050" dirty="0"/>
          </a:p>
        </p:txBody>
      </p:sp>
      <p:sp>
        <p:nvSpPr>
          <p:cNvPr id="16" name="Shape 13"/>
          <p:cNvSpPr/>
          <p:nvPr/>
        </p:nvSpPr>
        <p:spPr>
          <a:xfrm>
            <a:off x="731520" y="3401568"/>
            <a:ext cx="91440" cy="91440"/>
          </a:xfrm>
          <a:prstGeom prst="ellipse">
            <a:avLst/>
          </a:prstGeom>
          <a:solidFill>
            <a:srgbClr val="29D3FF"/>
          </a:solidFill>
          <a:ln/>
        </p:spPr>
      </p:sp>
      <p:sp>
        <p:nvSpPr>
          <p:cNvPr id="17" name="Text 14"/>
          <p:cNvSpPr/>
          <p:nvPr/>
        </p:nvSpPr>
        <p:spPr>
          <a:xfrm>
            <a:off x="960120" y="3291840"/>
            <a:ext cx="56692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Consumption &amp; Forecasting</a:t>
            </a:r>
            <a:endParaRPr lang="en-US" sz="1300" dirty="0"/>
          </a:p>
        </p:txBody>
      </p:sp>
      <p:sp>
        <p:nvSpPr>
          <p:cNvPr id="18" name="Text 15"/>
          <p:cNvSpPr/>
          <p:nvPr/>
        </p:nvSpPr>
        <p:spPr>
          <a:xfrm>
            <a:off x="960120" y="3566160"/>
            <a:ext cx="5669280" cy="502920"/>
          </a:xfrm>
          <a:prstGeom prst="rect">
            <a:avLst/>
          </a:prstGeom>
          <a:noFill/>
          <a:ln/>
        </p:spPr>
        <p:txBody>
          <a:bodyPr wrap="square" lIns="0" tIns="0" rIns="0" bIns="0" rtlCol="0" anchor="ctr"/>
          <a:lstStyle/>
          <a:p>
            <a:pPr marL="0" indent="0">
              <a:lnSpc>
                <a:spcPct val="115000"/>
              </a:lnSpc>
              <a:buNone/>
            </a:pPr>
            <a:r>
              <a:rPr lang="en-US" sz="1050" dirty="0">
                <a:solidFill>
                  <a:srgbClr val="89A2C4"/>
                </a:solidFill>
                <a:latin typeface="Calibri" pitchFamily="34" charset="0"/>
                <a:ea typeface="Calibri" pitchFamily="34" charset="-122"/>
                <a:cs typeface="Calibri" pitchFamily="34" charset="-120"/>
              </a:rPr>
              <a:t>consumption_kwh, next_hour_consumption_kwh, lag1_kwh, lag24_kwh, roll24_std_kwh, Forecast Error, Forecast Error Band</a:t>
            </a:r>
            <a:endParaRPr lang="en-US" sz="1050" dirty="0"/>
          </a:p>
        </p:txBody>
      </p:sp>
      <p:sp>
        <p:nvSpPr>
          <p:cNvPr id="19" name="Shape 16"/>
          <p:cNvSpPr/>
          <p:nvPr/>
        </p:nvSpPr>
        <p:spPr>
          <a:xfrm>
            <a:off x="731520" y="4297680"/>
            <a:ext cx="91440" cy="91440"/>
          </a:xfrm>
          <a:prstGeom prst="ellipse">
            <a:avLst/>
          </a:prstGeom>
          <a:solidFill>
            <a:srgbClr val="29D3FF"/>
          </a:solidFill>
          <a:ln/>
        </p:spPr>
      </p:sp>
      <p:sp>
        <p:nvSpPr>
          <p:cNvPr id="20" name="Text 17"/>
          <p:cNvSpPr/>
          <p:nvPr/>
        </p:nvSpPr>
        <p:spPr>
          <a:xfrm>
            <a:off x="960120" y="4187952"/>
            <a:ext cx="56692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Solar &amp; Weather</a:t>
            </a:r>
            <a:endParaRPr lang="en-US" sz="1300" dirty="0"/>
          </a:p>
        </p:txBody>
      </p:sp>
      <p:sp>
        <p:nvSpPr>
          <p:cNvPr id="21" name="Text 18"/>
          <p:cNvSpPr/>
          <p:nvPr/>
        </p:nvSpPr>
        <p:spPr>
          <a:xfrm>
            <a:off x="960120" y="4462272"/>
            <a:ext cx="5669280" cy="502920"/>
          </a:xfrm>
          <a:prstGeom prst="rect">
            <a:avLst/>
          </a:prstGeom>
          <a:noFill/>
          <a:ln/>
        </p:spPr>
        <p:txBody>
          <a:bodyPr wrap="square" lIns="0" tIns="0" rIns="0" bIns="0" rtlCol="0" anchor="ctr"/>
          <a:lstStyle/>
          <a:p>
            <a:pPr marL="0" indent="0">
              <a:lnSpc>
                <a:spcPct val="115000"/>
              </a:lnSpc>
              <a:buNone/>
            </a:pPr>
            <a:r>
              <a:rPr lang="en-US" sz="1050" dirty="0">
                <a:solidFill>
                  <a:srgbClr val="89A2C4"/>
                </a:solidFill>
                <a:latin typeface="Calibri" pitchFamily="34" charset="0"/>
                <a:ea typeface="Calibri" pitchFamily="34" charset="-122"/>
                <a:cs typeface="Calibri" pitchFamily="34" charset="-120"/>
              </a:rPr>
              <a:t>solar_generation_kwh, solar_kw_installed, temp_c, wind_ms, humidity_pct, Temperature Range</a:t>
            </a:r>
            <a:endParaRPr lang="en-US" sz="1050" dirty="0"/>
          </a:p>
        </p:txBody>
      </p:sp>
      <p:sp>
        <p:nvSpPr>
          <p:cNvPr id="22" name="Shape 19"/>
          <p:cNvSpPr/>
          <p:nvPr/>
        </p:nvSpPr>
        <p:spPr>
          <a:xfrm>
            <a:off x="731520" y="5193792"/>
            <a:ext cx="91440" cy="91440"/>
          </a:xfrm>
          <a:prstGeom prst="ellipse">
            <a:avLst/>
          </a:prstGeom>
          <a:solidFill>
            <a:srgbClr val="29D3FF"/>
          </a:solidFill>
          <a:ln/>
        </p:spPr>
      </p:sp>
      <p:sp>
        <p:nvSpPr>
          <p:cNvPr id="23" name="Text 20"/>
          <p:cNvSpPr/>
          <p:nvPr/>
        </p:nvSpPr>
        <p:spPr>
          <a:xfrm>
            <a:off x="960120" y="5084064"/>
            <a:ext cx="56692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Anomaly &amp; Risk</a:t>
            </a:r>
            <a:endParaRPr lang="en-US" sz="1300" dirty="0"/>
          </a:p>
        </p:txBody>
      </p:sp>
      <p:sp>
        <p:nvSpPr>
          <p:cNvPr id="24" name="Text 21"/>
          <p:cNvSpPr/>
          <p:nvPr/>
        </p:nvSpPr>
        <p:spPr>
          <a:xfrm>
            <a:off x="960120" y="5358384"/>
            <a:ext cx="5669280" cy="502920"/>
          </a:xfrm>
          <a:prstGeom prst="rect">
            <a:avLst/>
          </a:prstGeom>
          <a:noFill/>
          <a:ln/>
        </p:spPr>
        <p:txBody>
          <a:bodyPr wrap="square" lIns="0" tIns="0" rIns="0" bIns="0" rtlCol="0" anchor="ctr"/>
          <a:lstStyle/>
          <a:p>
            <a:pPr marL="0" indent="0">
              <a:lnSpc>
                <a:spcPct val="115000"/>
              </a:lnSpc>
              <a:buNone/>
            </a:pPr>
            <a:r>
              <a:rPr lang="en-US" sz="1050" dirty="0">
                <a:solidFill>
                  <a:srgbClr val="89A2C4"/>
                </a:solidFill>
                <a:latin typeface="Calibri" pitchFamily="34" charset="0"/>
                <a:ea typeface="Calibri" pitchFamily="34" charset="-122"/>
                <a:cs typeface="Calibri" pitchFamily="34" charset="-120"/>
              </a:rPr>
              <a:t>anomaly_flag, high_usage_flag, sensor_health, outage_risk_score, risk_category, peak_period</a:t>
            </a:r>
            <a:endParaRPr lang="en-US" sz="1050" dirty="0"/>
          </a:p>
        </p:txBody>
      </p:sp>
      <p:sp>
        <p:nvSpPr>
          <p:cNvPr id="25" name="Shape 22"/>
          <p:cNvSpPr/>
          <p:nvPr/>
        </p:nvSpPr>
        <p:spPr>
          <a:xfrm>
            <a:off x="7178040" y="1874520"/>
            <a:ext cx="4526280" cy="4343400"/>
          </a:xfrm>
          <a:prstGeom prst="roundRect">
            <a:avLst>
              <a:gd name="adj" fmla="val 1684"/>
            </a:avLst>
          </a:prstGeom>
          <a:solidFill>
            <a:srgbClr val="0D2038"/>
          </a:solidFill>
          <a:ln w="9525">
            <a:solidFill>
              <a:srgbClr val="1E3E64"/>
            </a:solidFill>
            <a:prstDash val="solid"/>
          </a:ln>
          <a:effectLst>
            <a:outerShdw blurRad="101600" dist="38100" dir="5400000" algn="bl" rotWithShape="0">
              <a:srgbClr val="000000">
                <a:alpha val="35000"/>
              </a:srgbClr>
            </a:outerShdw>
          </a:effectLst>
        </p:spPr>
      </p:sp>
      <p:sp>
        <p:nvSpPr>
          <p:cNvPr id="26" name="Text 23"/>
          <p:cNvSpPr/>
          <p:nvPr/>
        </p:nvSpPr>
        <p:spPr>
          <a:xfrm>
            <a:off x="7452360" y="2084832"/>
            <a:ext cx="3657600" cy="274320"/>
          </a:xfrm>
          <a:prstGeom prst="rect">
            <a:avLst/>
          </a:prstGeom>
          <a:noFill/>
          <a:ln/>
        </p:spPr>
        <p:txBody>
          <a:bodyPr wrap="square" lIns="0" tIns="0" rIns="0" bIns="0" rtlCol="0" anchor="ctr"/>
          <a:lstStyle/>
          <a:p>
            <a:pPr marL="0" indent="0">
              <a:buNone/>
            </a:pPr>
            <a:r>
              <a:rPr lang="en-US" sz="1100" b="1" kern="0" spc="120" dirty="0">
                <a:solidFill>
                  <a:srgbClr val="29D3FF"/>
                </a:solidFill>
                <a:latin typeface="Calibri" pitchFamily="34" charset="0"/>
                <a:ea typeface="Calibri" pitchFamily="34" charset="-122"/>
                <a:cs typeface="Calibri" pitchFamily="34" charset="-120"/>
              </a:rPr>
              <a:t>TECHNOLOGY STACK</a:t>
            </a:r>
            <a:endParaRPr lang="en-US" sz="1100" dirty="0"/>
          </a:p>
        </p:txBody>
      </p:sp>
      <p:sp>
        <p:nvSpPr>
          <p:cNvPr id="27" name="Shape 24"/>
          <p:cNvSpPr/>
          <p:nvPr/>
        </p:nvSpPr>
        <p:spPr>
          <a:xfrm>
            <a:off x="7452360" y="2395728"/>
            <a:ext cx="420624" cy="420624"/>
          </a:xfrm>
          <a:prstGeom prst="ellipse">
            <a:avLst/>
          </a:prstGeom>
          <a:solidFill>
            <a:srgbClr val="15304F"/>
          </a:solidFill>
          <a:ln w="15875">
            <a:solidFill>
              <a:srgbClr val="29D3FF"/>
            </a:solidFill>
            <a:prstDash val="solid"/>
          </a:ln>
        </p:spPr>
      </p:sp>
      <p:pic>
        <p:nvPicPr>
          <p:cNvPr id="28" name="Image 1" descr="/home/claude/gridsense/icon_cpu.png"/>
          <p:cNvPicPr>
            <a:picLocks noChangeAspect="1"/>
          </p:cNvPicPr>
          <p:nvPr/>
        </p:nvPicPr>
        <p:blipFill>
          <a:blip r:embed="rId4"/>
          <a:stretch>
            <a:fillRect/>
          </a:stretch>
        </p:blipFill>
        <p:spPr>
          <a:xfrm>
            <a:off x="7561722" y="2505090"/>
            <a:ext cx="201900" cy="201900"/>
          </a:xfrm>
          <a:prstGeom prst="rect">
            <a:avLst/>
          </a:prstGeom>
        </p:spPr>
      </p:pic>
      <p:sp>
        <p:nvSpPr>
          <p:cNvPr id="29" name="Text 25"/>
          <p:cNvSpPr/>
          <p:nvPr/>
        </p:nvSpPr>
        <p:spPr>
          <a:xfrm>
            <a:off x="8001000" y="2368296"/>
            <a:ext cx="3429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Power BI Desktop</a:t>
            </a:r>
            <a:endParaRPr lang="en-US" sz="1300" dirty="0"/>
          </a:p>
        </p:txBody>
      </p:sp>
      <p:sp>
        <p:nvSpPr>
          <p:cNvPr id="30" name="Text 26"/>
          <p:cNvSpPr/>
          <p:nvPr/>
        </p:nvSpPr>
        <p:spPr>
          <a:xfrm>
            <a:off x="8001000" y="2624328"/>
            <a:ext cx="3429000" cy="320040"/>
          </a:xfrm>
          <a:prstGeom prst="rect">
            <a:avLst/>
          </a:prstGeom>
          <a:noFill/>
          <a:ln/>
        </p:spPr>
        <p:txBody>
          <a:bodyPr wrap="square" lIns="0" tIns="0" rIns="0" bIns="0" rtlCol="0" anchor="ctr"/>
          <a:lstStyle/>
          <a:p>
            <a:pPr marL="0" indent="0">
              <a:buNone/>
            </a:pPr>
            <a:r>
              <a:rPr lang="en-US" sz="1000" dirty="0">
                <a:solidFill>
                  <a:srgbClr val="89A2C4"/>
                </a:solidFill>
                <a:latin typeface="Calibri" pitchFamily="34" charset="0"/>
                <a:ea typeface="Calibri" pitchFamily="34" charset="-122"/>
                <a:cs typeface="Calibri" pitchFamily="34" charset="-120"/>
              </a:rPr>
              <a:t>Report authoring &amp; interactive dashboards</a:t>
            </a:r>
            <a:endParaRPr lang="en-US" sz="1000" dirty="0"/>
          </a:p>
        </p:txBody>
      </p:sp>
      <p:sp>
        <p:nvSpPr>
          <p:cNvPr id="31" name="Shape 27"/>
          <p:cNvSpPr/>
          <p:nvPr/>
        </p:nvSpPr>
        <p:spPr>
          <a:xfrm>
            <a:off x="7452360" y="3291840"/>
            <a:ext cx="420624" cy="420624"/>
          </a:xfrm>
          <a:prstGeom prst="ellipse">
            <a:avLst/>
          </a:prstGeom>
          <a:solidFill>
            <a:srgbClr val="15304F"/>
          </a:solidFill>
          <a:ln w="15875">
            <a:solidFill>
              <a:srgbClr val="29D3FF"/>
            </a:solidFill>
            <a:prstDash val="solid"/>
          </a:ln>
        </p:spPr>
      </p:sp>
      <p:pic>
        <p:nvPicPr>
          <p:cNvPr id="32" name="Image 2" descr="/home/claude/gridsense/icon_database.png"/>
          <p:cNvPicPr>
            <a:picLocks noChangeAspect="1"/>
          </p:cNvPicPr>
          <p:nvPr/>
        </p:nvPicPr>
        <p:blipFill>
          <a:blip r:embed="rId5"/>
          <a:stretch>
            <a:fillRect/>
          </a:stretch>
        </p:blipFill>
        <p:spPr>
          <a:xfrm>
            <a:off x="7561722" y="3401202"/>
            <a:ext cx="201900" cy="201900"/>
          </a:xfrm>
          <a:prstGeom prst="rect">
            <a:avLst/>
          </a:prstGeom>
        </p:spPr>
      </p:pic>
      <p:sp>
        <p:nvSpPr>
          <p:cNvPr id="33" name="Text 28"/>
          <p:cNvSpPr/>
          <p:nvPr/>
        </p:nvSpPr>
        <p:spPr>
          <a:xfrm>
            <a:off x="8001000" y="3264408"/>
            <a:ext cx="3429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Power Query</a:t>
            </a:r>
            <a:endParaRPr lang="en-US" sz="1300" dirty="0"/>
          </a:p>
        </p:txBody>
      </p:sp>
      <p:sp>
        <p:nvSpPr>
          <p:cNvPr id="34" name="Text 29"/>
          <p:cNvSpPr/>
          <p:nvPr/>
        </p:nvSpPr>
        <p:spPr>
          <a:xfrm>
            <a:off x="8001000" y="3520440"/>
            <a:ext cx="3429000" cy="320040"/>
          </a:xfrm>
          <a:prstGeom prst="rect">
            <a:avLst/>
          </a:prstGeom>
          <a:noFill/>
          <a:ln/>
        </p:spPr>
        <p:txBody>
          <a:bodyPr wrap="square" lIns="0" tIns="0" rIns="0" bIns="0" rtlCol="0" anchor="ctr"/>
          <a:lstStyle/>
          <a:p>
            <a:pPr marL="0" indent="0">
              <a:buNone/>
            </a:pPr>
            <a:r>
              <a:rPr lang="en-US" sz="1000" dirty="0">
                <a:solidFill>
                  <a:srgbClr val="89A2C4"/>
                </a:solidFill>
                <a:latin typeface="Calibri" pitchFamily="34" charset="0"/>
                <a:ea typeface="Calibri" pitchFamily="34" charset="-122"/>
                <a:cs typeface="Calibri" pitchFamily="34" charset="-120"/>
              </a:rPr>
              <a:t>Data cleaning, transformation &amp; shaping</a:t>
            </a:r>
            <a:endParaRPr lang="en-US" sz="1000" dirty="0"/>
          </a:p>
        </p:txBody>
      </p:sp>
      <p:sp>
        <p:nvSpPr>
          <p:cNvPr id="35" name="Shape 30"/>
          <p:cNvSpPr/>
          <p:nvPr/>
        </p:nvSpPr>
        <p:spPr>
          <a:xfrm>
            <a:off x="7452360" y="4187952"/>
            <a:ext cx="420624" cy="420624"/>
          </a:xfrm>
          <a:prstGeom prst="ellipse">
            <a:avLst/>
          </a:prstGeom>
          <a:solidFill>
            <a:srgbClr val="15304F"/>
          </a:solidFill>
          <a:ln w="15875">
            <a:solidFill>
              <a:srgbClr val="29D3FF"/>
            </a:solidFill>
            <a:prstDash val="solid"/>
          </a:ln>
        </p:spPr>
      </p:sp>
      <p:pic>
        <p:nvPicPr>
          <p:cNvPr id="36" name="Image 3" descr="/home/claude/gridsense/icon_layers.png"/>
          <p:cNvPicPr>
            <a:picLocks noChangeAspect="1"/>
          </p:cNvPicPr>
          <p:nvPr/>
        </p:nvPicPr>
        <p:blipFill>
          <a:blip r:embed="rId6"/>
          <a:stretch>
            <a:fillRect/>
          </a:stretch>
        </p:blipFill>
        <p:spPr>
          <a:xfrm>
            <a:off x="7561722" y="4297314"/>
            <a:ext cx="201900" cy="201900"/>
          </a:xfrm>
          <a:prstGeom prst="rect">
            <a:avLst/>
          </a:prstGeom>
        </p:spPr>
      </p:pic>
      <p:sp>
        <p:nvSpPr>
          <p:cNvPr id="37" name="Text 31"/>
          <p:cNvSpPr/>
          <p:nvPr/>
        </p:nvSpPr>
        <p:spPr>
          <a:xfrm>
            <a:off x="8001000" y="4160520"/>
            <a:ext cx="3429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Modeling</a:t>
            </a:r>
            <a:endParaRPr lang="en-US" sz="1300" dirty="0"/>
          </a:p>
        </p:txBody>
      </p:sp>
      <p:sp>
        <p:nvSpPr>
          <p:cNvPr id="38" name="Text 32"/>
          <p:cNvSpPr/>
          <p:nvPr/>
        </p:nvSpPr>
        <p:spPr>
          <a:xfrm>
            <a:off x="8001000" y="4416552"/>
            <a:ext cx="3429000" cy="320040"/>
          </a:xfrm>
          <a:prstGeom prst="rect">
            <a:avLst/>
          </a:prstGeom>
          <a:noFill/>
          <a:ln/>
        </p:spPr>
        <p:txBody>
          <a:bodyPr wrap="square" lIns="0" tIns="0" rIns="0" bIns="0" rtlCol="0" anchor="ctr"/>
          <a:lstStyle/>
          <a:p>
            <a:pPr marL="0" indent="0">
              <a:buNone/>
            </a:pPr>
            <a:r>
              <a:rPr lang="en-US" sz="1000" dirty="0">
                <a:solidFill>
                  <a:srgbClr val="89A2C4"/>
                </a:solidFill>
                <a:latin typeface="Calibri" pitchFamily="34" charset="0"/>
                <a:ea typeface="Calibri" pitchFamily="34" charset="-122"/>
                <a:cs typeface="Calibri" pitchFamily="34" charset="-120"/>
              </a:rPr>
              <a:t>Relationships across meters, time &amp; weather</a:t>
            </a:r>
            <a:endParaRPr lang="en-US" sz="1000" dirty="0"/>
          </a:p>
        </p:txBody>
      </p:sp>
      <p:sp>
        <p:nvSpPr>
          <p:cNvPr id="39" name="Shape 33"/>
          <p:cNvSpPr/>
          <p:nvPr/>
        </p:nvSpPr>
        <p:spPr>
          <a:xfrm>
            <a:off x="7452360" y="5084064"/>
            <a:ext cx="420624" cy="420624"/>
          </a:xfrm>
          <a:prstGeom prst="ellipse">
            <a:avLst/>
          </a:prstGeom>
          <a:solidFill>
            <a:srgbClr val="15304F"/>
          </a:solidFill>
          <a:ln w="15875">
            <a:solidFill>
              <a:srgbClr val="29D3FF"/>
            </a:solidFill>
            <a:prstDash val="solid"/>
          </a:ln>
        </p:spPr>
      </p:sp>
      <p:pic>
        <p:nvPicPr>
          <p:cNvPr id="40" name="Image 4" descr="/home/claude/gridsense/icon_barchart.png"/>
          <p:cNvPicPr>
            <a:picLocks noChangeAspect="1"/>
          </p:cNvPicPr>
          <p:nvPr/>
        </p:nvPicPr>
        <p:blipFill>
          <a:blip r:embed="rId7"/>
          <a:stretch>
            <a:fillRect/>
          </a:stretch>
        </p:blipFill>
        <p:spPr>
          <a:xfrm>
            <a:off x="7561722" y="5193426"/>
            <a:ext cx="201900" cy="201900"/>
          </a:xfrm>
          <a:prstGeom prst="rect">
            <a:avLst/>
          </a:prstGeom>
        </p:spPr>
      </p:pic>
      <p:sp>
        <p:nvSpPr>
          <p:cNvPr id="41" name="Text 34"/>
          <p:cNvSpPr/>
          <p:nvPr/>
        </p:nvSpPr>
        <p:spPr>
          <a:xfrm>
            <a:off x="8001000" y="5056632"/>
            <a:ext cx="3429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DAX</a:t>
            </a:r>
            <a:endParaRPr lang="en-US" sz="1300" dirty="0"/>
          </a:p>
        </p:txBody>
      </p:sp>
      <p:sp>
        <p:nvSpPr>
          <p:cNvPr id="42" name="Text 35"/>
          <p:cNvSpPr/>
          <p:nvPr/>
        </p:nvSpPr>
        <p:spPr>
          <a:xfrm>
            <a:off x="8001000" y="5312664"/>
            <a:ext cx="3429000" cy="320040"/>
          </a:xfrm>
          <a:prstGeom prst="rect">
            <a:avLst/>
          </a:prstGeom>
          <a:noFill/>
          <a:ln/>
        </p:spPr>
        <p:txBody>
          <a:bodyPr wrap="square" lIns="0" tIns="0" rIns="0" bIns="0" rtlCol="0" anchor="ctr"/>
          <a:lstStyle/>
          <a:p>
            <a:pPr marL="0" indent="0">
              <a:buNone/>
            </a:pPr>
            <a:r>
              <a:rPr lang="en-US" sz="1000" dirty="0">
                <a:solidFill>
                  <a:srgbClr val="89A2C4"/>
                </a:solidFill>
                <a:latin typeface="Calibri" pitchFamily="34" charset="0"/>
                <a:ea typeface="Calibri" pitchFamily="34" charset="-122"/>
                <a:cs typeface="Calibri" pitchFamily="34" charset="-120"/>
              </a:rPr>
              <a:t>Custom measures behind every KPI &amp; visual</a:t>
            </a:r>
            <a:endParaRPr lang="en-US" sz="1000" dirty="0"/>
          </a:p>
        </p:txBody>
      </p:sp>
      <p:sp>
        <p:nvSpPr>
          <p:cNvPr id="43" name="Text 36"/>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44" name="Text 37"/>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ARCHITECTURE</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System Architecture &amp; Workflow</a:t>
            </a:r>
            <a:endParaRPr lang="en-US" sz="32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From raw smart-grid data to decision-ready dashboards</a:t>
            </a:r>
            <a:endParaRPr lang="en-US" sz="1400" dirty="0"/>
          </a:p>
        </p:txBody>
      </p:sp>
      <p:sp>
        <p:nvSpPr>
          <p:cNvPr id="11" name="Shape 8"/>
          <p:cNvSpPr/>
          <p:nvPr/>
        </p:nvSpPr>
        <p:spPr>
          <a:xfrm>
            <a:off x="403708" y="2423160"/>
            <a:ext cx="1874520" cy="2103120"/>
          </a:xfrm>
          <a:prstGeom prst="roundRect">
            <a:avLst>
              <a:gd name="adj" fmla="val 3902"/>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12" name="Shape 9"/>
          <p:cNvSpPr/>
          <p:nvPr/>
        </p:nvSpPr>
        <p:spPr>
          <a:xfrm>
            <a:off x="1084936" y="2679192"/>
            <a:ext cx="512064" cy="512064"/>
          </a:xfrm>
          <a:prstGeom prst="ellipse">
            <a:avLst/>
          </a:prstGeom>
          <a:solidFill>
            <a:srgbClr val="15304F"/>
          </a:solidFill>
          <a:ln w="15875">
            <a:solidFill>
              <a:srgbClr val="29D3FF"/>
            </a:solidFill>
            <a:prstDash val="solid"/>
          </a:ln>
        </p:spPr>
      </p:sp>
      <p:pic>
        <p:nvPicPr>
          <p:cNvPr id="13" name="Image 1" descr="/home/claude/gridsense/icon_database.png"/>
          <p:cNvPicPr>
            <a:picLocks noChangeAspect="1"/>
          </p:cNvPicPr>
          <p:nvPr/>
        </p:nvPicPr>
        <p:blipFill>
          <a:blip r:embed="rId4"/>
          <a:stretch>
            <a:fillRect/>
          </a:stretch>
        </p:blipFill>
        <p:spPr>
          <a:xfrm>
            <a:off x="1218072" y="2812329"/>
            <a:ext cx="245791" cy="245791"/>
          </a:xfrm>
          <a:prstGeom prst="rect">
            <a:avLst/>
          </a:prstGeom>
        </p:spPr>
      </p:pic>
      <p:sp>
        <p:nvSpPr>
          <p:cNvPr id="14" name="Text 10"/>
          <p:cNvSpPr/>
          <p:nvPr/>
        </p:nvSpPr>
        <p:spPr>
          <a:xfrm>
            <a:off x="1894180" y="2313432"/>
            <a:ext cx="329184" cy="329184"/>
          </a:xfrm>
          <a:prstGeom prst="ellipse">
            <a:avLst/>
          </a:prstGeom>
          <a:solidFill>
            <a:srgbClr val="29D3FF"/>
          </a:solidFill>
          <a:ln/>
        </p:spPr>
        <p:txBody>
          <a:bodyPr wrap="square" lIns="0" tIns="0" rIns="0" bIns="0" rtlCol="0" anchor="ctr"/>
          <a:lstStyle/>
          <a:p>
            <a:pPr marL="0" indent="0" algn="ctr">
              <a:buNone/>
            </a:pPr>
            <a:r>
              <a:rPr lang="en-US" sz="1200" b="1" dirty="0">
                <a:solidFill>
                  <a:srgbClr val="0A1830"/>
                </a:solidFill>
                <a:latin typeface="Calibri" pitchFamily="34" charset="0"/>
                <a:ea typeface="Calibri" pitchFamily="34" charset="-122"/>
                <a:cs typeface="Calibri" pitchFamily="34" charset="-120"/>
              </a:rPr>
              <a:t>1</a:t>
            </a:r>
            <a:endParaRPr lang="en-US" sz="1200" dirty="0"/>
          </a:p>
        </p:txBody>
      </p:sp>
      <p:sp>
        <p:nvSpPr>
          <p:cNvPr id="15" name="Text 11"/>
          <p:cNvSpPr/>
          <p:nvPr/>
        </p:nvSpPr>
        <p:spPr>
          <a:xfrm>
            <a:off x="495148" y="3337560"/>
            <a:ext cx="169164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p>
        </p:txBody>
      </p:sp>
      <p:sp>
        <p:nvSpPr>
          <p:cNvPr id="16" name="Text 12"/>
          <p:cNvSpPr/>
          <p:nvPr/>
        </p:nvSpPr>
        <p:spPr>
          <a:xfrm>
            <a:off x="495148" y="3685032"/>
            <a:ext cx="1691640" cy="731520"/>
          </a:xfrm>
          <a:prstGeom prst="rect">
            <a:avLst/>
          </a:prstGeom>
          <a:noFill/>
          <a:ln/>
        </p:spPr>
        <p:txBody>
          <a:bodyPr wrap="square" lIns="0" tIns="0" rIns="0" bIns="0" rtlCol="0" anchor="ctr"/>
          <a:lstStyle/>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~20,000 rows of</a:t>
            </a:r>
            <a:endParaRPr lang="en-US" sz="950" dirty="0"/>
          </a:p>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smart-grid records</a:t>
            </a:r>
            <a:endParaRPr lang="en-US" sz="950" dirty="0"/>
          </a:p>
        </p:txBody>
      </p:sp>
      <p:pic>
        <p:nvPicPr>
          <p:cNvPr id="17" name="Image 2" descr="/home/claude/gridsense/icon_arrowright.png"/>
          <p:cNvPicPr>
            <a:picLocks noChangeAspect="1"/>
          </p:cNvPicPr>
          <p:nvPr/>
        </p:nvPicPr>
        <p:blipFill>
          <a:blip r:embed="rId5"/>
          <a:stretch>
            <a:fillRect/>
          </a:stretch>
        </p:blipFill>
        <p:spPr>
          <a:xfrm>
            <a:off x="2360524" y="3319272"/>
            <a:ext cx="310896" cy="310896"/>
          </a:xfrm>
          <a:prstGeom prst="rect">
            <a:avLst/>
          </a:prstGeom>
        </p:spPr>
      </p:pic>
      <p:sp>
        <p:nvSpPr>
          <p:cNvPr id="18" name="Shape 13"/>
          <p:cNvSpPr/>
          <p:nvPr/>
        </p:nvSpPr>
        <p:spPr>
          <a:xfrm>
            <a:off x="2781148" y="2423160"/>
            <a:ext cx="1874520" cy="2103120"/>
          </a:xfrm>
          <a:prstGeom prst="roundRect">
            <a:avLst>
              <a:gd name="adj" fmla="val 3902"/>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19" name="Shape 14"/>
          <p:cNvSpPr/>
          <p:nvPr/>
        </p:nvSpPr>
        <p:spPr>
          <a:xfrm>
            <a:off x="3462376" y="2679192"/>
            <a:ext cx="512064" cy="512064"/>
          </a:xfrm>
          <a:prstGeom prst="ellipse">
            <a:avLst/>
          </a:prstGeom>
          <a:solidFill>
            <a:srgbClr val="15304F"/>
          </a:solidFill>
          <a:ln w="15875">
            <a:solidFill>
              <a:srgbClr val="29D3FF"/>
            </a:solidFill>
            <a:prstDash val="solid"/>
          </a:ln>
        </p:spPr>
      </p:sp>
      <p:pic>
        <p:nvPicPr>
          <p:cNvPr id="20" name="Image 3" descr="/home/claude/gridsense/icon_settings.png"/>
          <p:cNvPicPr>
            <a:picLocks noChangeAspect="1"/>
          </p:cNvPicPr>
          <p:nvPr/>
        </p:nvPicPr>
        <p:blipFill>
          <a:blip r:embed="rId6"/>
          <a:stretch>
            <a:fillRect/>
          </a:stretch>
        </p:blipFill>
        <p:spPr>
          <a:xfrm>
            <a:off x="3595512" y="2812329"/>
            <a:ext cx="245791" cy="245791"/>
          </a:xfrm>
          <a:prstGeom prst="rect">
            <a:avLst/>
          </a:prstGeom>
        </p:spPr>
      </p:pic>
      <p:sp>
        <p:nvSpPr>
          <p:cNvPr id="21" name="Text 15"/>
          <p:cNvSpPr/>
          <p:nvPr/>
        </p:nvSpPr>
        <p:spPr>
          <a:xfrm>
            <a:off x="4271620" y="2313432"/>
            <a:ext cx="329184" cy="329184"/>
          </a:xfrm>
          <a:prstGeom prst="ellipse">
            <a:avLst/>
          </a:prstGeom>
          <a:solidFill>
            <a:srgbClr val="29D3FF"/>
          </a:solidFill>
          <a:ln/>
        </p:spPr>
        <p:txBody>
          <a:bodyPr wrap="square" lIns="0" tIns="0" rIns="0" bIns="0" rtlCol="0" anchor="ctr"/>
          <a:lstStyle/>
          <a:p>
            <a:pPr marL="0" indent="0" algn="ctr">
              <a:buNone/>
            </a:pPr>
            <a:r>
              <a:rPr lang="en-US" sz="1200" b="1" dirty="0">
                <a:solidFill>
                  <a:srgbClr val="0A1830"/>
                </a:solidFill>
                <a:latin typeface="Calibri" pitchFamily="34" charset="0"/>
                <a:ea typeface="Calibri" pitchFamily="34" charset="-122"/>
                <a:cs typeface="Calibri" pitchFamily="34" charset="-120"/>
              </a:rPr>
              <a:t>2</a:t>
            </a:r>
            <a:endParaRPr lang="en-US" sz="1200" dirty="0"/>
          </a:p>
        </p:txBody>
      </p:sp>
      <p:sp>
        <p:nvSpPr>
          <p:cNvPr id="22" name="Text 16"/>
          <p:cNvSpPr/>
          <p:nvPr/>
        </p:nvSpPr>
        <p:spPr>
          <a:xfrm>
            <a:off x="2872588" y="3337560"/>
            <a:ext cx="169164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 Cleaning</a:t>
            </a:r>
            <a:endParaRPr lang="en-US" sz="1250" dirty="0"/>
          </a:p>
        </p:txBody>
      </p:sp>
      <p:sp>
        <p:nvSpPr>
          <p:cNvPr id="23" name="Text 17"/>
          <p:cNvSpPr/>
          <p:nvPr/>
        </p:nvSpPr>
        <p:spPr>
          <a:xfrm>
            <a:off x="2872588" y="3685032"/>
            <a:ext cx="1691640" cy="731520"/>
          </a:xfrm>
          <a:prstGeom prst="rect">
            <a:avLst/>
          </a:prstGeom>
          <a:noFill/>
          <a:ln/>
        </p:spPr>
        <p:txBody>
          <a:bodyPr wrap="square" lIns="0" tIns="0" rIns="0" bIns="0" rtlCol="0" anchor="ctr"/>
          <a:lstStyle/>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Power Query:</a:t>
            </a:r>
            <a:endParaRPr lang="en-US" sz="950" dirty="0"/>
          </a:p>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formatting &amp; shaping</a:t>
            </a:r>
            <a:endParaRPr lang="en-US" sz="950" dirty="0"/>
          </a:p>
        </p:txBody>
      </p:sp>
      <p:pic>
        <p:nvPicPr>
          <p:cNvPr id="24" name="Image 4" descr="/home/claude/gridsense/icon_arrowright.png"/>
          <p:cNvPicPr>
            <a:picLocks noChangeAspect="1"/>
          </p:cNvPicPr>
          <p:nvPr/>
        </p:nvPicPr>
        <p:blipFill>
          <a:blip r:embed="rId5"/>
          <a:stretch>
            <a:fillRect/>
          </a:stretch>
        </p:blipFill>
        <p:spPr>
          <a:xfrm>
            <a:off x="4737964" y="3319272"/>
            <a:ext cx="310896" cy="310896"/>
          </a:xfrm>
          <a:prstGeom prst="rect">
            <a:avLst/>
          </a:prstGeom>
        </p:spPr>
      </p:pic>
      <p:sp>
        <p:nvSpPr>
          <p:cNvPr id="25" name="Shape 18"/>
          <p:cNvSpPr/>
          <p:nvPr/>
        </p:nvSpPr>
        <p:spPr>
          <a:xfrm>
            <a:off x="5158588" y="2423160"/>
            <a:ext cx="1874520" cy="2103120"/>
          </a:xfrm>
          <a:prstGeom prst="roundRect">
            <a:avLst>
              <a:gd name="adj" fmla="val 3902"/>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26" name="Shape 19"/>
          <p:cNvSpPr/>
          <p:nvPr/>
        </p:nvSpPr>
        <p:spPr>
          <a:xfrm>
            <a:off x="5839816" y="2679192"/>
            <a:ext cx="512064" cy="512064"/>
          </a:xfrm>
          <a:prstGeom prst="ellipse">
            <a:avLst/>
          </a:prstGeom>
          <a:solidFill>
            <a:srgbClr val="15304F"/>
          </a:solidFill>
          <a:ln w="15875">
            <a:solidFill>
              <a:srgbClr val="29D3FF"/>
            </a:solidFill>
            <a:prstDash val="solid"/>
          </a:ln>
        </p:spPr>
      </p:sp>
      <p:pic>
        <p:nvPicPr>
          <p:cNvPr id="27" name="Image 5" descr="/home/claude/gridsense/icon_layers.png"/>
          <p:cNvPicPr>
            <a:picLocks noChangeAspect="1"/>
          </p:cNvPicPr>
          <p:nvPr/>
        </p:nvPicPr>
        <p:blipFill>
          <a:blip r:embed="rId7"/>
          <a:stretch>
            <a:fillRect/>
          </a:stretch>
        </p:blipFill>
        <p:spPr>
          <a:xfrm>
            <a:off x="5972952" y="2812329"/>
            <a:ext cx="245791" cy="245791"/>
          </a:xfrm>
          <a:prstGeom prst="rect">
            <a:avLst/>
          </a:prstGeom>
        </p:spPr>
      </p:pic>
      <p:sp>
        <p:nvSpPr>
          <p:cNvPr id="28" name="Text 20"/>
          <p:cNvSpPr/>
          <p:nvPr/>
        </p:nvSpPr>
        <p:spPr>
          <a:xfrm>
            <a:off x="6649060" y="2313432"/>
            <a:ext cx="329184" cy="329184"/>
          </a:xfrm>
          <a:prstGeom prst="ellipse">
            <a:avLst/>
          </a:prstGeom>
          <a:solidFill>
            <a:srgbClr val="29D3FF"/>
          </a:solidFill>
          <a:ln/>
        </p:spPr>
        <p:txBody>
          <a:bodyPr wrap="square" lIns="0" tIns="0" rIns="0" bIns="0" rtlCol="0" anchor="ctr"/>
          <a:lstStyle/>
          <a:p>
            <a:pPr marL="0" indent="0" algn="ctr">
              <a:buNone/>
            </a:pPr>
            <a:r>
              <a:rPr lang="en-US" sz="1200" b="1" dirty="0">
                <a:solidFill>
                  <a:srgbClr val="0A1830"/>
                </a:solidFill>
                <a:latin typeface="Calibri" pitchFamily="34" charset="0"/>
                <a:ea typeface="Calibri" pitchFamily="34" charset="-122"/>
                <a:cs typeface="Calibri" pitchFamily="34" charset="-120"/>
              </a:rPr>
              <a:t>3</a:t>
            </a:r>
            <a:endParaRPr lang="en-US" sz="1200" dirty="0"/>
          </a:p>
        </p:txBody>
      </p:sp>
      <p:sp>
        <p:nvSpPr>
          <p:cNvPr id="29" name="Text 21"/>
          <p:cNvSpPr/>
          <p:nvPr/>
        </p:nvSpPr>
        <p:spPr>
          <a:xfrm>
            <a:off x="5250028" y="3337560"/>
            <a:ext cx="169164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 Modeling &amp; DAX</a:t>
            </a:r>
            <a:endParaRPr lang="en-US" sz="1250" dirty="0"/>
          </a:p>
        </p:txBody>
      </p:sp>
      <p:sp>
        <p:nvSpPr>
          <p:cNvPr id="30" name="Text 22"/>
          <p:cNvSpPr/>
          <p:nvPr/>
        </p:nvSpPr>
        <p:spPr>
          <a:xfrm>
            <a:off x="5250028" y="3685032"/>
            <a:ext cx="1691640" cy="731520"/>
          </a:xfrm>
          <a:prstGeom prst="rect">
            <a:avLst/>
          </a:prstGeom>
          <a:noFill/>
          <a:ln/>
        </p:spPr>
        <p:txBody>
          <a:bodyPr wrap="square" lIns="0" tIns="0" rIns="0" bIns="0" rtlCol="0" anchor="ctr"/>
          <a:lstStyle/>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Relationships +</a:t>
            </a:r>
            <a:endParaRPr lang="en-US" sz="950" dirty="0"/>
          </a:p>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custom measures</a:t>
            </a:r>
            <a:endParaRPr lang="en-US" sz="950" dirty="0"/>
          </a:p>
        </p:txBody>
      </p:sp>
      <p:pic>
        <p:nvPicPr>
          <p:cNvPr id="31" name="Image 6" descr="/home/claude/gridsense/icon_arrowright.png"/>
          <p:cNvPicPr>
            <a:picLocks noChangeAspect="1"/>
          </p:cNvPicPr>
          <p:nvPr/>
        </p:nvPicPr>
        <p:blipFill>
          <a:blip r:embed="rId5"/>
          <a:stretch>
            <a:fillRect/>
          </a:stretch>
        </p:blipFill>
        <p:spPr>
          <a:xfrm>
            <a:off x="7115404" y="3319272"/>
            <a:ext cx="310896" cy="310896"/>
          </a:xfrm>
          <a:prstGeom prst="rect">
            <a:avLst/>
          </a:prstGeom>
        </p:spPr>
      </p:pic>
      <p:sp>
        <p:nvSpPr>
          <p:cNvPr id="32" name="Shape 23"/>
          <p:cNvSpPr/>
          <p:nvPr/>
        </p:nvSpPr>
        <p:spPr>
          <a:xfrm>
            <a:off x="7536028" y="2423160"/>
            <a:ext cx="1874520" cy="2103120"/>
          </a:xfrm>
          <a:prstGeom prst="roundRect">
            <a:avLst>
              <a:gd name="adj" fmla="val 3902"/>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33" name="Shape 24"/>
          <p:cNvSpPr/>
          <p:nvPr/>
        </p:nvSpPr>
        <p:spPr>
          <a:xfrm>
            <a:off x="8217256" y="2679192"/>
            <a:ext cx="512064" cy="512064"/>
          </a:xfrm>
          <a:prstGeom prst="ellipse">
            <a:avLst/>
          </a:prstGeom>
          <a:solidFill>
            <a:srgbClr val="15304F"/>
          </a:solidFill>
          <a:ln w="15875">
            <a:solidFill>
              <a:srgbClr val="29D3FF"/>
            </a:solidFill>
            <a:prstDash val="solid"/>
          </a:ln>
        </p:spPr>
      </p:sp>
      <p:pic>
        <p:nvPicPr>
          <p:cNvPr id="34" name="Image 7" descr="/home/claude/gridsense/icon_monitor.png"/>
          <p:cNvPicPr>
            <a:picLocks noChangeAspect="1"/>
          </p:cNvPicPr>
          <p:nvPr/>
        </p:nvPicPr>
        <p:blipFill>
          <a:blip r:embed="rId8"/>
          <a:stretch>
            <a:fillRect/>
          </a:stretch>
        </p:blipFill>
        <p:spPr>
          <a:xfrm>
            <a:off x="8350392" y="2812329"/>
            <a:ext cx="245791" cy="245791"/>
          </a:xfrm>
          <a:prstGeom prst="rect">
            <a:avLst/>
          </a:prstGeom>
        </p:spPr>
      </p:pic>
      <p:sp>
        <p:nvSpPr>
          <p:cNvPr id="35" name="Text 25"/>
          <p:cNvSpPr/>
          <p:nvPr/>
        </p:nvSpPr>
        <p:spPr>
          <a:xfrm>
            <a:off x="9026500" y="2313432"/>
            <a:ext cx="329184" cy="329184"/>
          </a:xfrm>
          <a:prstGeom prst="ellipse">
            <a:avLst/>
          </a:prstGeom>
          <a:solidFill>
            <a:srgbClr val="29D3FF"/>
          </a:solidFill>
          <a:ln/>
        </p:spPr>
        <p:txBody>
          <a:bodyPr wrap="square" lIns="0" tIns="0" rIns="0" bIns="0" rtlCol="0" anchor="ctr"/>
          <a:lstStyle/>
          <a:p>
            <a:pPr marL="0" indent="0" algn="ctr">
              <a:buNone/>
            </a:pPr>
            <a:r>
              <a:rPr lang="en-US" sz="1200" b="1" dirty="0">
                <a:solidFill>
                  <a:srgbClr val="0A1830"/>
                </a:solidFill>
                <a:latin typeface="Calibri" pitchFamily="34" charset="0"/>
                <a:ea typeface="Calibri" pitchFamily="34" charset="-122"/>
                <a:cs typeface="Calibri" pitchFamily="34" charset="-120"/>
              </a:rPr>
              <a:t>4</a:t>
            </a:r>
            <a:endParaRPr lang="en-US" sz="1200" dirty="0"/>
          </a:p>
        </p:txBody>
      </p:sp>
      <p:sp>
        <p:nvSpPr>
          <p:cNvPr id="36" name="Text 26"/>
          <p:cNvSpPr/>
          <p:nvPr/>
        </p:nvSpPr>
        <p:spPr>
          <a:xfrm>
            <a:off x="7627468" y="3337560"/>
            <a:ext cx="169164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Power BI Dashboard</a:t>
            </a:r>
            <a:endParaRPr lang="en-US" sz="1250" dirty="0"/>
          </a:p>
        </p:txBody>
      </p:sp>
      <p:sp>
        <p:nvSpPr>
          <p:cNvPr id="37" name="Text 27"/>
          <p:cNvSpPr/>
          <p:nvPr/>
        </p:nvSpPr>
        <p:spPr>
          <a:xfrm>
            <a:off x="7627468" y="3685032"/>
            <a:ext cx="1691640" cy="731520"/>
          </a:xfrm>
          <a:prstGeom prst="rect">
            <a:avLst/>
          </a:prstGeom>
          <a:noFill/>
          <a:ln/>
        </p:spPr>
        <p:txBody>
          <a:bodyPr wrap="square" lIns="0" tIns="0" rIns="0" bIns="0" rtlCol="0" anchor="ctr"/>
          <a:lstStyle/>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4 interactive</a:t>
            </a:r>
            <a:endParaRPr lang="en-US" sz="950" dirty="0"/>
          </a:p>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report pages</a:t>
            </a:r>
            <a:endParaRPr lang="en-US" sz="950" dirty="0"/>
          </a:p>
        </p:txBody>
      </p:sp>
      <p:pic>
        <p:nvPicPr>
          <p:cNvPr id="38" name="Image 8" descr="/home/claude/gridsense/icon_arrowright.png"/>
          <p:cNvPicPr>
            <a:picLocks noChangeAspect="1"/>
          </p:cNvPicPr>
          <p:nvPr/>
        </p:nvPicPr>
        <p:blipFill>
          <a:blip r:embed="rId5"/>
          <a:stretch>
            <a:fillRect/>
          </a:stretch>
        </p:blipFill>
        <p:spPr>
          <a:xfrm>
            <a:off x="9492844" y="3319272"/>
            <a:ext cx="310896" cy="310896"/>
          </a:xfrm>
          <a:prstGeom prst="rect">
            <a:avLst/>
          </a:prstGeom>
        </p:spPr>
      </p:pic>
      <p:sp>
        <p:nvSpPr>
          <p:cNvPr id="39" name="Shape 28"/>
          <p:cNvSpPr/>
          <p:nvPr/>
        </p:nvSpPr>
        <p:spPr>
          <a:xfrm>
            <a:off x="9913468" y="2423160"/>
            <a:ext cx="1874520" cy="2103120"/>
          </a:xfrm>
          <a:prstGeom prst="roundRect">
            <a:avLst>
              <a:gd name="adj" fmla="val 3902"/>
            </a:avLst>
          </a:prstGeom>
          <a:solidFill>
            <a:srgbClr val="0F2648"/>
          </a:solidFill>
          <a:ln w="9525">
            <a:solidFill>
              <a:srgbClr val="1E3E64"/>
            </a:solidFill>
            <a:prstDash val="solid"/>
          </a:ln>
          <a:effectLst>
            <a:outerShdw blurRad="101600" dist="38100" dir="5400000" algn="bl" rotWithShape="0">
              <a:srgbClr val="000000">
                <a:alpha val="35000"/>
              </a:srgbClr>
            </a:outerShdw>
          </a:effectLst>
        </p:spPr>
      </p:sp>
      <p:sp>
        <p:nvSpPr>
          <p:cNvPr id="40" name="Shape 29"/>
          <p:cNvSpPr/>
          <p:nvPr/>
        </p:nvSpPr>
        <p:spPr>
          <a:xfrm>
            <a:off x="10594696" y="2679192"/>
            <a:ext cx="512064" cy="512064"/>
          </a:xfrm>
          <a:prstGeom prst="ellipse">
            <a:avLst/>
          </a:prstGeom>
          <a:solidFill>
            <a:srgbClr val="15304F"/>
          </a:solidFill>
          <a:ln w="15875">
            <a:solidFill>
              <a:srgbClr val="29D3FF"/>
            </a:solidFill>
            <a:prstDash val="solid"/>
          </a:ln>
        </p:spPr>
      </p:sp>
      <p:pic>
        <p:nvPicPr>
          <p:cNvPr id="41" name="Image 9" descr="/home/claude/gridsense/icon_trendup.png"/>
          <p:cNvPicPr>
            <a:picLocks noChangeAspect="1"/>
          </p:cNvPicPr>
          <p:nvPr/>
        </p:nvPicPr>
        <p:blipFill>
          <a:blip r:embed="rId9"/>
          <a:stretch>
            <a:fillRect/>
          </a:stretch>
        </p:blipFill>
        <p:spPr>
          <a:xfrm>
            <a:off x="10727832" y="2812329"/>
            <a:ext cx="245791" cy="245791"/>
          </a:xfrm>
          <a:prstGeom prst="rect">
            <a:avLst/>
          </a:prstGeom>
        </p:spPr>
      </p:pic>
      <p:sp>
        <p:nvSpPr>
          <p:cNvPr id="42" name="Text 30"/>
          <p:cNvSpPr/>
          <p:nvPr/>
        </p:nvSpPr>
        <p:spPr>
          <a:xfrm>
            <a:off x="11403940" y="2313432"/>
            <a:ext cx="329184" cy="329184"/>
          </a:xfrm>
          <a:prstGeom prst="ellipse">
            <a:avLst/>
          </a:prstGeom>
          <a:solidFill>
            <a:srgbClr val="29D3FF"/>
          </a:solidFill>
          <a:ln/>
        </p:spPr>
        <p:txBody>
          <a:bodyPr wrap="square" lIns="0" tIns="0" rIns="0" bIns="0" rtlCol="0" anchor="ctr"/>
          <a:lstStyle/>
          <a:p>
            <a:pPr marL="0" indent="0" algn="ctr">
              <a:buNone/>
            </a:pPr>
            <a:r>
              <a:rPr lang="en-US" sz="1200" b="1" dirty="0">
                <a:solidFill>
                  <a:srgbClr val="0A1830"/>
                </a:solidFill>
                <a:latin typeface="Calibri" pitchFamily="34" charset="0"/>
                <a:ea typeface="Calibri" pitchFamily="34" charset="-122"/>
                <a:cs typeface="Calibri" pitchFamily="34" charset="-120"/>
              </a:rPr>
              <a:t>5</a:t>
            </a:r>
            <a:endParaRPr lang="en-US" sz="1200" dirty="0"/>
          </a:p>
        </p:txBody>
      </p:sp>
      <p:sp>
        <p:nvSpPr>
          <p:cNvPr id="43" name="Text 31"/>
          <p:cNvSpPr/>
          <p:nvPr/>
        </p:nvSpPr>
        <p:spPr>
          <a:xfrm>
            <a:off x="10004908" y="3337560"/>
            <a:ext cx="169164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Insights</a:t>
            </a:r>
            <a:endParaRPr lang="en-US" sz="1250" dirty="0"/>
          </a:p>
        </p:txBody>
      </p:sp>
      <p:sp>
        <p:nvSpPr>
          <p:cNvPr id="44" name="Text 32"/>
          <p:cNvSpPr/>
          <p:nvPr/>
        </p:nvSpPr>
        <p:spPr>
          <a:xfrm>
            <a:off x="10004908" y="3685032"/>
            <a:ext cx="1691640" cy="731520"/>
          </a:xfrm>
          <a:prstGeom prst="rect">
            <a:avLst/>
          </a:prstGeom>
          <a:noFill/>
          <a:ln/>
        </p:spPr>
        <p:txBody>
          <a:bodyPr wrap="square" lIns="0" tIns="0" rIns="0" bIns="0" rtlCol="0" anchor="ctr"/>
          <a:lstStyle/>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Monitoring, anomaly</a:t>
            </a:r>
            <a:endParaRPr lang="en-US" sz="950" dirty="0"/>
          </a:p>
          <a:p>
            <a:pPr marL="0" indent="0" algn="ctr">
              <a:lnSpc>
                <a:spcPct val="110000"/>
              </a:lnSpc>
              <a:buNone/>
            </a:pPr>
            <a:r>
              <a:rPr lang="en-US" sz="950" dirty="0">
                <a:solidFill>
                  <a:srgbClr val="89A2C4"/>
                </a:solidFill>
                <a:latin typeface="Calibri" pitchFamily="34" charset="0"/>
                <a:ea typeface="Calibri" pitchFamily="34" charset="-122"/>
                <a:cs typeface="Calibri" pitchFamily="34" charset="-120"/>
              </a:rPr>
              <a:t>&amp; risk decisions</a:t>
            </a:r>
            <a:endParaRPr lang="en-US" sz="950" dirty="0"/>
          </a:p>
        </p:txBody>
      </p:sp>
      <p:sp>
        <p:nvSpPr>
          <p:cNvPr id="45" name="Shape 33"/>
          <p:cNvSpPr/>
          <p:nvPr/>
        </p:nvSpPr>
        <p:spPr>
          <a:xfrm>
            <a:off x="457200" y="4892040"/>
            <a:ext cx="11247120" cy="1234440"/>
          </a:xfrm>
          <a:prstGeom prst="roundRect">
            <a:avLst>
              <a:gd name="adj" fmla="val 5926"/>
            </a:avLst>
          </a:prstGeom>
          <a:solidFill>
            <a:srgbClr val="0D2038"/>
          </a:solidFill>
          <a:ln w="9525">
            <a:solidFill>
              <a:srgbClr val="1E3E64"/>
            </a:solidFill>
            <a:prstDash val="solid"/>
          </a:ln>
          <a:effectLst>
            <a:outerShdw blurRad="101600" dist="38100" dir="5400000" algn="bl" rotWithShape="0">
              <a:srgbClr val="000000">
                <a:alpha val="35000"/>
              </a:srgbClr>
            </a:outerShdw>
          </a:effectLst>
        </p:spPr>
      </p:sp>
      <p:sp>
        <p:nvSpPr>
          <p:cNvPr id="46" name="Text 34"/>
          <p:cNvSpPr/>
          <p:nvPr/>
        </p:nvSpPr>
        <p:spPr>
          <a:xfrm>
            <a:off x="731520" y="5074920"/>
            <a:ext cx="10698480" cy="914400"/>
          </a:xfrm>
          <a:prstGeom prst="rect">
            <a:avLst/>
          </a:prstGeom>
          <a:noFill/>
          <a:ln/>
        </p:spPr>
        <p:txBody>
          <a:bodyPr wrap="square" lIns="0" tIns="0" rIns="0" bIns="0" rtlCol="0" anchor="ctr"/>
          <a:lstStyle/>
          <a:p>
            <a:pPr marL="0" indent="0">
              <a:lnSpc>
                <a:spcPct val="120000"/>
              </a:lnSpc>
              <a:buNone/>
            </a:pPr>
            <a:r>
              <a:rPr lang="en-US" sz="1150" b="1" dirty="0">
                <a:solidFill>
                  <a:srgbClr val="3ED598"/>
                </a:solidFill>
                <a:latin typeface="Calibri" pitchFamily="34" charset="0"/>
                <a:ea typeface="Calibri" pitchFamily="34" charset="-122"/>
                <a:cs typeface="Calibri" pitchFamily="34" charset="-120"/>
              </a:rPr>
              <a:t>Existing (Implemented in Power BI):  </a:t>
            </a:r>
            <a:r>
              <a:rPr lang="en-US" sz="1150" dirty="0">
                <a:solidFill>
                  <a:srgbClr val="D7E6FF"/>
                </a:solidFill>
                <a:latin typeface="Calibri" pitchFamily="34" charset="0"/>
                <a:ea typeface="Calibri" pitchFamily="34" charset="-122"/>
                <a:cs typeface="Calibri" pitchFamily="34" charset="-120"/>
              </a:rPr>
              <a:t>All five stages above are built and functioning in the current report.  </a:t>
            </a:r>
            <a:r>
              <a:rPr lang="en-US" sz="1150" b="1" dirty="0">
                <a:solidFill>
                  <a:srgbClr val="FFC94A"/>
                </a:solidFill>
                <a:latin typeface="Calibri" pitchFamily="34" charset="0"/>
                <a:ea typeface="Calibri" pitchFamily="34" charset="-122"/>
                <a:cs typeface="Calibri" pitchFamily="34" charset="-120"/>
              </a:rPr>
              <a:t>Proposed (Future Scope):  </a:t>
            </a:r>
            <a:endParaRPr lang="en-US" sz="1150" dirty="0"/>
          </a:p>
          <a:p>
            <a:pPr marL="0" indent="0">
              <a:lnSpc>
                <a:spcPct val="120000"/>
              </a:lnSpc>
              <a:buNone/>
            </a:pPr>
            <a:r>
              <a:rPr lang="en-US" sz="1150" dirty="0">
                <a:solidFill>
                  <a:srgbClr val="D7E6FF"/>
                </a:solidFill>
                <a:latin typeface="Calibri" pitchFamily="34" charset="0"/>
                <a:ea typeface="Calibri" pitchFamily="34" charset="-122"/>
                <a:cs typeface="Calibri" pitchFamily="34" charset="-120"/>
              </a:rPr>
              <a:t>Automated alerting and predictive ML models layered on top of this workflow (see Slide 12).</a:t>
            </a:r>
            <a:endParaRPr lang="en-US" sz="1150" dirty="0"/>
          </a:p>
        </p:txBody>
      </p:sp>
      <p:sp>
        <p:nvSpPr>
          <p:cNvPr id="47" name="Text 35"/>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48" name="Text 36"/>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DASHBOARD · PAGE 1</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Page 1 — Energy Overview</a:t>
            </a:r>
            <a:endParaRPr lang="en-US" sz="26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Baseline consumption, generation and anomaly snapshot</a:t>
            </a:r>
            <a:endParaRPr lang="en-US" sz="1400" dirty="0"/>
          </a:p>
        </p:txBody>
      </p:sp>
      <p:sp>
        <p:nvSpPr>
          <p:cNvPr id="11" name="Shape 8"/>
          <p:cNvSpPr/>
          <p:nvPr/>
        </p:nvSpPr>
        <p:spPr>
          <a:xfrm>
            <a:off x="402336" y="1728216"/>
            <a:ext cx="7196328" cy="4095442"/>
          </a:xfrm>
          <a:prstGeom prst="roundRect">
            <a:avLst>
              <a:gd name="adj" fmla="val 1116"/>
            </a:avLst>
          </a:prstGeom>
          <a:solidFill>
            <a:srgbClr val="081428"/>
          </a:solidFill>
          <a:ln w="12700">
            <a:solidFill>
              <a:srgbClr val="29D3FF"/>
            </a:solidFill>
            <a:prstDash val="solid"/>
          </a:ln>
        </p:spPr>
      </p:sp>
      <p:pic>
        <p:nvPicPr>
          <p:cNvPr id="12" name="Image 1" descr="/home/claude/gridsense/page1.png"/>
          <p:cNvPicPr>
            <a:picLocks noChangeAspect="1"/>
          </p:cNvPicPr>
          <p:nvPr/>
        </p:nvPicPr>
        <p:blipFill>
          <a:blip r:embed="rId4"/>
          <a:stretch>
            <a:fillRect/>
          </a:stretch>
        </p:blipFill>
        <p:spPr>
          <a:xfrm>
            <a:off x="457200" y="1783080"/>
            <a:ext cx="7086600" cy="3985714"/>
          </a:xfrm>
          <a:prstGeom prst="rect">
            <a:avLst/>
          </a:prstGeom>
        </p:spPr>
      </p:pic>
      <p:sp>
        <p:nvSpPr>
          <p:cNvPr id="13" name="Text 9"/>
          <p:cNvSpPr/>
          <p:nvPr/>
        </p:nvSpPr>
        <p:spPr>
          <a:xfrm>
            <a:off x="457200" y="5878522"/>
            <a:ext cx="7086600" cy="274320"/>
          </a:xfrm>
          <a:prstGeom prst="rect">
            <a:avLst/>
          </a:prstGeom>
          <a:noFill/>
          <a:ln/>
        </p:spPr>
        <p:txBody>
          <a:bodyPr wrap="square" lIns="0" tIns="0" rIns="0" bIns="0" rtlCol="0" anchor="ctr"/>
          <a:lstStyle/>
          <a:p>
            <a:pPr marL="0" indent="0">
              <a:buNone/>
            </a:pPr>
            <a:r>
              <a:rPr lang="en-US" sz="950" i="1" dirty="0">
                <a:solidFill>
                  <a:srgbClr val="89A2C4"/>
                </a:solidFill>
                <a:latin typeface="Calibri" pitchFamily="34" charset="0"/>
                <a:ea typeface="Calibri" pitchFamily="34" charset="-122"/>
                <a:cs typeface="Calibri" pitchFamily="34" charset="-120"/>
              </a:rPr>
              <a:t>Live Power BI dashboard screenshot — existing implementation</a:t>
            </a:r>
            <a:endParaRPr lang="en-US" sz="950" dirty="0"/>
          </a:p>
        </p:txBody>
      </p:sp>
      <p:sp>
        <p:nvSpPr>
          <p:cNvPr id="14" name="Text 10"/>
          <p:cNvSpPr/>
          <p:nvPr/>
        </p:nvSpPr>
        <p:spPr>
          <a:xfrm>
            <a:off x="7818120" y="1783080"/>
            <a:ext cx="3657600" cy="274320"/>
          </a:xfrm>
          <a:prstGeom prst="rect">
            <a:avLst/>
          </a:prstGeom>
          <a:noFill/>
          <a:ln/>
        </p:spPr>
        <p:txBody>
          <a:bodyPr wrap="square" lIns="0" tIns="0" rIns="0" bIns="0" rtlCol="0" anchor="ctr"/>
          <a:lstStyle/>
          <a:p>
            <a:pPr marL="0" indent="0">
              <a:buNone/>
            </a:pPr>
            <a:r>
              <a:rPr lang="en-US" sz="1100" b="1" kern="0" spc="120" dirty="0">
                <a:solidFill>
                  <a:srgbClr val="3ED598"/>
                </a:solidFill>
                <a:latin typeface="Calibri" pitchFamily="34" charset="0"/>
                <a:ea typeface="Calibri" pitchFamily="34" charset="-122"/>
                <a:cs typeface="Calibri" pitchFamily="34" charset="-120"/>
              </a:rPr>
              <a:t>KPI CARDS</a:t>
            </a:r>
            <a:endParaRPr lang="en-US" sz="1100" dirty="0"/>
          </a:p>
        </p:txBody>
      </p:sp>
      <p:sp>
        <p:nvSpPr>
          <p:cNvPr id="15" name="Shape 11"/>
          <p:cNvSpPr/>
          <p:nvPr/>
        </p:nvSpPr>
        <p:spPr>
          <a:xfrm>
            <a:off x="7818120" y="2084832"/>
            <a:ext cx="1888236" cy="548640"/>
          </a:xfrm>
          <a:prstGeom prst="roundRect">
            <a:avLst>
              <a:gd name="adj" fmla="val 13333"/>
            </a:avLst>
          </a:prstGeom>
          <a:solidFill>
            <a:srgbClr val="0F2648"/>
          </a:solidFill>
          <a:ln w="9525">
            <a:solidFill>
              <a:srgbClr val="1E3E64"/>
            </a:solidFill>
            <a:prstDash val="solid"/>
          </a:ln>
        </p:spPr>
      </p:sp>
      <p:sp>
        <p:nvSpPr>
          <p:cNvPr id="16" name="Text 12"/>
          <p:cNvSpPr/>
          <p:nvPr/>
        </p:nvSpPr>
        <p:spPr>
          <a:xfrm>
            <a:off x="7927848" y="2084832"/>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Total Energy Consumption</a:t>
            </a:r>
            <a:endParaRPr lang="en-US" sz="1000" dirty="0"/>
          </a:p>
        </p:txBody>
      </p:sp>
      <p:sp>
        <p:nvSpPr>
          <p:cNvPr id="17" name="Shape 13"/>
          <p:cNvSpPr/>
          <p:nvPr/>
        </p:nvSpPr>
        <p:spPr>
          <a:xfrm>
            <a:off x="9843516" y="2084832"/>
            <a:ext cx="1888236" cy="548640"/>
          </a:xfrm>
          <a:prstGeom prst="roundRect">
            <a:avLst>
              <a:gd name="adj" fmla="val 13333"/>
            </a:avLst>
          </a:prstGeom>
          <a:solidFill>
            <a:srgbClr val="0F2648"/>
          </a:solidFill>
          <a:ln w="9525">
            <a:solidFill>
              <a:srgbClr val="1E3E64"/>
            </a:solidFill>
            <a:prstDash val="solid"/>
          </a:ln>
        </p:spPr>
      </p:sp>
      <p:sp>
        <p:nvSpPr>
          <p:cNvPr id="18" name="Text 14"/>
          <p:cNvSpPr/>
          <p:nvPr/>
        </p:nvSpPr>
        <p:spPr>
          <a:xfrm>
            <a:off x="9953244" y="2084832"/>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Average Consumption</a:t>
            </a:r>
            <a:endParaRPr lang="en-US" sz="1000" dirty="0"/>
          </a:p>
        </p:txBody>
      </p:sp>
      <p:sp>
        <p:nvSpPr>
          <p:cNvPr id="19" name="Shape 15"/>
          <p:cNvSpPr/>
          <p:nvPr/>
        </p:nvSpPr>
        <p:spPr>
          <a:xfrm>
            <a:off x="7818120" y="2743200"/>
            <a:ext cx="1888236" cy="548640"/>
          </a:xfrm>
          <a:prstGeom prst="roundRect">
            <a:avLst>
              <a:gd name="adj" fmla="val 13333"/>
            </a:avLst>
          </a:prstGeom>
          <a:solidFill>
            <a:srgbClr val="0F2648"/>
          </a:solidFill>
          <a:ln w="9525">
            <a:solidFill>
              <a:srgbClr val="1E3E64"/>
            </a:solidFill>
            <a:prstDash val="solid"/>
          </a:ln>
        </p:spPr>
      </p:sp>
      <p:sp>
        <p:nvSpPr>
          <p:cNvPr id="20" name="Text 16"/>
          <p:cNvSpPr/>
          <p:nvPr/>
        </p:nvSpPr>
        <p:spPr>
          <a:xfrm>
            <a:off x="7927848" y="2743200"/>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Total Solar Generation</a:t>
            </a:r>
            <a:endParaRPr lang="en-US" sz="1000" dirty="0"/>
          </a:p>
        </p:txBody>
      </p:sp>
      <p:sp>
        <p:nvSpPr>
          <p:cNvPr id="21" name="Shape 17"/>
          <p:cNvSpPr/>
          <p:nvPr/>
        </p:nvSpPr>
        <p:spPr>
          <a:xfrm>
            <a:off x="9843516" y="2743200"/>
            <a:ext cx="1888236" cy="548640"/>
          </a:xfrm>
          <a:prstGeom prst="roundRect">
            <a:avLst>
              <a:gd name="adj" fmla="val 13333"/>
            </a:avLst>
          </a:prstGeom>
          <a:solidFill>
            <a:srgbClr val="0F2648"/>
          </a:solidFill>
          <a:ln w="9525">
            <a:solidFill>
              <a:srgbClr val="1E3E64"/>
            </a:solidFill>
            <a:prstDash val="solid"/>
          </a:ln>
        </p:spPr>
      </p:sp>
      <p:sp>
        <p:nvSpPr>
          <p:cNvPr id="22" name="Text 18"/>
          <p:cNvSpPr/>
          <p:nvPr/>
        </p:nvSpPr>
        <p:spPr>
          <a:xfrm>
            <a:off x="9953244" y="2743200"/>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Total Anomalies</a:t>
            </a:r>
            <a:endParaRPr lang="en-US" sz="1000" dirty="0"/>
          </a:p>
        </p:txBody>
      </p:sp>
      <p:sp>
        <p:nvSpPr>
          <p:cNvPr id="23" name="Text 19"/>
          <p:cNvSpPr/>
          <p:nvPr/>
        </p:nvSpPr>
        <p:spPr>
          <a:xfrm>
            <a:off x="7818120" y="3657600"/>
            <a:ext cx="3657600" cy="274320"/>
          </a:xfrm>
          <a:prstGeom prst="rect">
            <a:avLst/>
          </a:prstGeom>
          <a:noFill/>
          <a:ln/>
        </p:spPr>
        <p:txBody>
          <a:bodyPr wrap="square" lIns="0" tIns="0" rIns="0" bIns="0" rtlCol="0" anchor="ctr"/>
          <a:lstStyle/>
          <a:p>
            <a:pPr marL="0" indent="0">
              <a:buNone/>
            </a:pPr>
            <a:r>
              <a:rPr lang="en-US" sz="1100" b="1" kern="0" spc="120" dirty="0">
                <a:solidFill>
                  <a:srgbClr val="29D3FF"/>
                </a:solidFill>
                <a:latin typeface="Calibri" pitchFamily="34" charset="0"/>
                <a:ea typeface="Calibri" pitchFamily="34" charset="-122"/>
                <a:cs typeface="Calibri" pitchFamily="34" charset="-120"/>
              </a:rPr>
              <a:t>KEY VISUALS</a:t>
            </a:r>
            <a:endParaRPr lang="en-US" sz="1100" dirty="0"/>
          </a:p>
        </p:txBody>
      </p:sp>
      <p:sp>
        <p:nvSpPr>
          <p:cNvPr id="24" name="Text 20"/>
          <p:cNvSpPr/>
          <p:nvPr/>
        </p:nvSpPr>
        <p:spPr>
          <a:xfrm>
            <a:off x="7818120" y="3968496"/>
            <a:ext cx="3913632" cy="1417320"/>
          </a:xfrm>
          <a:prstGeom prst="rect">
            <a:avLst/>
          </a:prstGeom>
          <a:noFill/>
          <a:ln/>
        </p:spPr>
        <p:txBody>
          <a:bodyPr wrap="square" lIns="0" tIns="0" rIns="0" bIns="0" rtlCol="0" anchor="t"/>
          <a:lstStyle/>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Energy Consumption Trend Over Time</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Consumption by Region</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Consumption by Building Type</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Solar Generation vs Grid Consumption</a:t>
            </a:r>
            <a:endParaRPr lang="en-US" sz="1050" dirty="0"/>
          </a:p>
        </p:txBody>
      </p:sp>
      <p:sp>
        <p:nvSpPr>
          <p:cNvPr id="25" name="Shape 21"/>
          <p:cNvSpPr/>
          <p:nvPr/>
        </p:nvSpPr>
        <p:spPr>
          <a:xfrm>
            <a:off x="7818120" y="5193792"/>
            <a:ext cx="3913632" cy="1133856"/>
          </a:xfrm>
          <a:prstGeom prst="roundRect">
            <a:avLst>
              <a:gd name="adj" fmla="val 6452"/>
            </a:avLst>
          </a:prstGeom>
          <a:solidFill>
            <a:srgbClr val="0D2038"/>
          </a:solidFill>
          <a:ln w="9525">
            <a:solidFill>
              <a:srgbClr val="1E3E64"/>
            </a:solidFill>
            <a:prstDash val="solid"/>
          </a:ln>
        </p:spPr>
      </p:sp>
      <p:sp>
        <p:nvSpPr>
          <p:cNvPr id="26" name="Text 22"/>
          <p:cNvSpPr/>
          <p:nvPr/>
        </p:nvSpPr>
        <p:spPr>
          <a:xfrm>
            <a:off x="7982712" y="5285232"/>
            <a:ext cx="3584448" cy="182880"/>
          </a:xfrm>
          <a:prstGeom prst="rect">
            <a:avLst/>
          </a:prstGeom>
          <a:noFill/>
          <a:ln/>
        </p:spPr>
        <p:txBody>
          <a:bodyPr wrap="square" lIns="0" tIns="0" rIns="0" bIns="0" rtlCol="0" anchor="ctr"/>
          <a:lstStyle/>
          <a:p>
            <a:pPr marL="0" indent="0">
              <a:buNone/>
            </a:pPr>
            <a:r>
              <a:rPr lang="en-US" sz="850" b="1" kern="0" spc="100" dirty="0">
                <a:solidFill>
                  <a:srgbClr val="FFC94A"/>
                </a:solidFill>
                <a:latin typeface="Calibri" pitchFamily="34" charset="0"/>
                <a:ea typeface="Calibri" pitchFamily="34" charset="-122"/>
                <a:cs typeface="Calibri" pitchFamily="34" charset="-120"/>
              </a:rPr>
              <a:t>DAX FOCUS</a:t>
            </a:r>
            <a:endParaRPr lang="en-US" sz="850" dirty="0"/>
          </a:p>
        </p:txBody>
      </p:sp>
      <p:sp>
        <p:nvSpPr>
          <p:cNvPr id="27" name="Text 23"/>
          <p:cNvSpPr/>
          <p:nvPr/>
        </p:nvSpPr>
        <p:spPr>
          <a:xfrm>
            <a:off x="7982712" y="5486400"/>
            <a:ext cx="3584448" cy="768096"/>
          </a:xfrm>
          <a:prstGeom prst="rect">
            <a:avLst/>
          </a:prstGeom>
          <a:noFill/>
          <a:ln/>
        </p:spPr>
        <p:txBody>
          <a:bodyPr wrap="square" lIns="0" tIns="0" rIns="0" bIns="0" rtlCol="0" anchor="ctr"/>
          <a:lstStyle/>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Total Consumption =</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SUM(consumption_kwh)</a:t>
            </a:r>
            <a:endParaRPr lang="en-US" sz="850" dirty="0"/>
          </a:p>
          <a:p>
            <a:pPr marL="0" indent="0">
              <a:lnSpc>
                <a:spcPct val="100000"/>
              </a:lnSpc>
              <a:buNone/>
            </a:pP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Avg Consumption =</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AVERAGE(consumption_kwh)</a:t>
            </a:r>
            <a:endParaRPr lang="en-US" sz="850" dirty="0"/>
          </a:p>
        </p:txBody>
      </p:sp>
      <p:sp>
        <p:nvSpPr>
          <p:cNvPr id="28" name="Text 24"/>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29" name="Text 25"/>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DASHBOARD · PAGE 2</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Page 2 — AI Energy &amp; Anomaly Intelligence</a:t>
            </a:r>
            <a:endParaRPr lang="en-US" sz="26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Anomaly detection, sensor health and outage risk monitoring</a:t>
            </a:r>
            <a:endParaRPr lang="en-US" sz="1400" dirty="0"/>
          </a:p>
        </p:txBody>
      </p:sp>
      <p:sp>
        <p:nvSpPr>
          <p:cNvPr id="11" name="Shape 8"/>
          <p:cNvSpPr/>
          <p:nvPr/>
        </p:nvSpPr>
        <p:spPr>
          <a:xfrm>
            <a:off x="402336" y="1728216"/>
            <a:ext cx="7196328" cy="4095442"/>
          </a:xfrm>
          <a:prstGeom prst="roundRect">
            <a:avLst>
              <a:gd name="adj" fmla="val 1116"/>
            </a:avLst>
          </a:prstGeom>
          <a:solidFill>
            <a:srgbClr val="081428"/>
          </a:solidFill>
          <a:ln w="12700">
            <a:solidFill>
              <a:srgbClr val="29D3FF"/>
            </a:solidFill>
            <a:prstDash val="solid"/>
          </a:ln>
        </p:spPr>
      </p:sp>
      <p:pic>
        <p:nvPicPr>
          <p:cNvPr id="12" name="Image 1" descr="/home/claude/gridsense/page2.png"/>
          <p:cNvPicPr>
            <a:picLocks noChangeAspect="1"/>
          </p:cNvPicPr>
          <p:nvPr/>
        </p:nvPicPr>
        <p:blipFill>
          <a:blip r:embed="rId4"/>
          <a:stretch>
            <a:fillRect/>
          </a:stretch>
        </p:blipFill>
        <p:spPr>
          <a:xfrm>
            <a:off x="457200" y="1783080"/>
            <a:ext cx="7086600" cy="3985714"/>
          </a:xfrm>
          <a:prstGeom prst="rect">
            <a:avLst/>
          </a:prstGeom>
        </p:spPr>
      </p:pic>
      <p:sp>
        <p:nvSpPr>
          <p:cNvPr id="13" name="Text 9"/>
          <p:cNvSpPr/>
          <p:nvPr/>
        </p:nvSpPr>
        <p:spPr>
          <a:xfrm>
            <a:off x="457200" y="5878522"/>
            <a:ext cx="7086600" cy="274320"/>
          </a:xfrm>
          <a:prstGeom prst="rect">
            <a:avLst/>
          </a:prstGeom>
          <a:noFill/>
          <a:ln/>
        </p:spPr>
        <p:txBody>
          <a:bodyPr wrap="square" lIns="0" tIns="0" rIns="0" bIns="0" rtlCol="0" anchor="ctr"/>
          <a:lstStyle/>
          <a:p>
            <a:pPr marL="0" indent="0">
              <a:buNone/>
            </a:pPr>
            <a:r>
              <a:rPr lang="en-US" sz="950" i="1" dirty="0">
                <a:solidFill>
                  <a:srgbClr val="89A2C4"/>
                </a:solidFill>
                <a:latin typeface="Calibri" pitchFamily="34" charset="0"/>
                <a:ea typeface="Calibri" pitchFamily="34" charset="-122"/>
                <a:cs typeface="Calibri" pitchFamily="34" charset="-120"/>
              </a:rPr>
              <a:t>Live Power BI dashboard screenshot — existing implementation</a:t>
            </a:r>
            <a:endParaRPr lang="en-US" sz="950" dirty="0"/>
          </a:p>
        </p:txBody>
      </p:sp>
      <p:sp>
        <p:nvSpPr>
          <p:cNvPr id="14" name="Text 10"/>
          <p:cNvSpPr/>
          <p:nvPr/>
        </p:nvSpPr>
        <p:spPr>
          <a:xfrm>
            <a:off x="7818120" y="1783080"/>
            <a:ext cx="3657600" cy="274320"/>
          </a:xfrm>
          <a:prstGeom prst="rect">
            <a:avLst/>
          </a:prstGeom>
          <a:noFill/>
          <a:ln/>
        </p:spPr>
        <p:txBody>
          <a:bodyPr wrap="square" lIns="0" tIns="0" rIns="0" bIns="0" rtlCol="0" anchor="ctr"/>
          <a:lstStyle/>
          <a:p>
            <a:pPr marL="0" indent="0">
              <a:buNone/>
            </a:pPr>
            <a:r>
              <a:rPr lang="en-US" sz="1100" b="1" kern="0" spc="120" dirty="0">
                <a:solidFill>
                  <a:srgbClr val="3ED598"/>
                </a:solidFill>
                <a:latin typeface="Calibri" pitchFamily="34" charset="0"/>
                <a:ea typeface="Calibri" pitchFamily="34" charset="-122"/>
                <a:cs typeface="Calibri" pitchFamily="34" charset="-120"/>
              </a:rPr>
              <a:t>KPI CARDS</a:t>
            </a:r>
            <a:endParaRPr lang="en-US" sz="1100" dirty="0"/>
          </a:p>
        </p:txBody>
      </p:sp>
      <p:sp>
        <p:nvSpPr>
          <p:cNvPr id="15" name="Shape 11"/>
          <p:cNvSpPr/>
          <p:nvPr/>
        </p:nvSpPr>
        <p:spPr>
          <a:xfrm>
            <a:off x="7818120" y="2084832"/>
            <a:ext cx="1888236" cy="548640"/>
          </a:xfrm>
          <a:prstGeom prst="roundRect">
            <a:avLst>
              <a:gd name="adj" fmla="val 13333"/>
            </a:avLst>
          </a:prstGeom>
          <a:solidFill>
            <a:srgbClr val="0F2648"/>
          </a:solidFill>
          <a:ln w="9525">
            <a:solidFill>
              <a:srgbClr val="1E3E64"/>
            </a:solidFill>
            <a:prstDash val="solid"/>
          </a:ln>
        </p:spPr>
      </p:sp>
      <p:sp>
        <p:nvSpPr>
          <p:cNvPr id="16" name="Text 12"/>
          <p:cNvSpPr/>
          <p:nvPr/>
        </p:nvSpPr>
        <p:spPr>
          <a:xfrm>
            <a:off x="7927848" y="2084832"/>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Total Anomalies</a:t>
            </a:r>
            <a:endParaRPr lang="en-US" sz="1000" dirty="0"/>
          </a:p>
        </p:txBody>
      </p:sp>
      <p:sp>
        <p:nvSpPr>
          <p:cNvPr id="17" name="Shape 13"/>
          <p:cNvSpPr/>
          <p:nvPr/>
        </p:nvSpPr>
        <p:spPr>
          <a:xfrm>
            <a:off x="9843516" y="2084832"/>
            <a:ext cx="1888236" cy="548640"/>
          </a:xfrm>
          <a:prstGeom prst="roundRect">
            <a:avLst>
              <a:gd name="adj" fmla="val 13333"/>
            </a:avLst>
          </a:prstGeom>
          <a:solidFill>
            <a:srgbClr val="0F2648"/>
          </a:solidFill>
          <a:ln w="9525">
            <a:solidFill>
              <a:srgbClr val="1E3E64"/>
            </a:solidFill>
            <a:prstDash val="solid"/>
          </a:ln>
        </p:spPr>
      </p:sp>
      <p:sp>
        <p:nvSpPr>
          <p:cNvPr id="18" name="Text 14"/>
          <p:cNvSpPr/>
          <p:nvPr/>
        </p:nvSpPr>
        <p:spPr>
          <a:xfrm>
            <a:off x="9953244" y="2084832"/>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High Usage Events</a:t>
            </a:r>
            <a:endParaRPr lang="en-US" sz="1000" dirty="0"/>
          </a:p>
        </p:txBody>
      </p:sp>
      <p:sp>
        <p:nvSpPr>
          <p:cNvPr id="19" name="Shape 15"/>
          <p:cNvSpPr/>
          <p:nvPr/>
        </p:nvSpPr>
        <p:spPr>
          <a:xfrm>
            <a:off x="7818120" y="2743200"/>
            <a:ext cx="1888236" cy="548640"/>
          </a:xfrm>
          <a:prstGeom prst="roundRect">
            <a:avLst>
              <a:gd name="adj" fmla="val 13333"/>
            </a:avLst>
          </a:prstGeom>
          <a:solidFill>
            <a:srgbClr val="0F2648"/>
          </a:solidFill>
          <a:ln w="9525">
            <a:solidFill>
              <a:srgbClr val="1E3E64"/>
            </a:solidFill>
            <a:prstDash val="solid"/>
          </a:ln>
        </p:spPr>
      </p:sp>
      <p:sp>
        <p:nvSpPr>
          <p:cNvPr id="20" name="Text 16"/>
          <p:cNvSpPr/>
          <p:nvPr/>
        </p:nvSpPr>
        <p:spPr>
          <a:xfrm>
            <a:off x="7927848" y="2743200"/>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Average Risk Score</a:t>
            </a:r>
            <a:endParaRPr lang="en-US" sz="1000" dirty="0"/>
          </a:p>
        </p:txBody>
      </p:sp>
      <p:sp>
        <p:nvSpPr>
          <p:cNvPr id="21" name="Shape 17"/>
          <p:cNvSpPr/>
          <p:nvPr/>
        </p:nvSpPr>
        <p:spPr>
          <a:xfrm>
            <a:off x="9843516" y="2743200"/>
            <a:ext cx="1888236" cy="548640"/>
          </a:xfrm>
          <a:prstGeom prst="roundRect">
            <a:avLst>
              <a:gd name="adj" fmla="val 13333"/>
            </a:avLst>
          </a:prstGeom>
          <a:solidFill>
            <a:srgbClr val="0F2648"/>
          </a:solidFill>
          <a:ln w="9525">
            <a:solidFill>
              <a:srgbClr val="1E3E64"/>
            </a:solidFill>
            <a:prstDash val="solid"/>
          </a:ln>
        </p:spPr>
      </p:sp>
      <p:sp>
        <p:nvSpPr>
          <p:cNvPr id="22" name="Text 18"/>
          <p:cNvSpPr/>
          <p:nvPr/>
        </p:nvSpPr>
        <p:spPr>
          <a:xfrm>
            <a:off x="9953244" y="2743200"/>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Healthy Sensors</a:t>
            </a:r>
            <a:endParaRPr lang="en-US" sz="1000" dirty="0"/>
          </a:p>
        </p:txBody>
      </p:sp>
      <p:sp>
        <p:nvSpPr>
          <p:cNvPr id="23" name="Text 19"/>
          <p:cNvSpPr/>
          <p:nvPr/>
        </p:nvSpPr>
        <p:spPr>
          <a:xfrm>
            <a:off x="7818120" y="3657600"/>
            <a:ext cx="3657600" cy="274320"/>
          </a:xfrm>
          <a:prstGeom prst="rect">
            <a:avLst/>
          </a:prstGeom>
          <a:noFill/>
          <a:ln/>
        </p:spPr>
        <p:txBody>
          <a:bodyPr wrap="square" lIns="0" tIns="0" rIns="0" bIns="0" rtlCol="0" anchor="ctr"/>
          <a:lstStyle/>
          <a:p>
            <a:pPr marL="0" indent="0">
              <a:buNone/>
            </a:pPr>
            <a:r>
              <a:rPr lang="en-US" sz="1100" b="1" kern="0" spc="120" dirty="0">
                <a:solidFill>
                  <a:srgbClr val="29D3FF"/>
                </a:solidFill>
                <a:latin typeface="Calibri" pitchFamily="34" charset="0"/>
                <a:ea typeface="Calibri" pitchFamily="34" charset="-122"/>
                <a:cs typeface="Calibri" pitchFamily="34" charset="-120"/>
              </a:rPr>
              <a:t>KEY VISUALS</a:t>
            </a:r>
            <a:endParaRPr lang="en-US" sz="1100" dirty="0"/>
          </a:p>
        </p:txBody>
      </p:sp>
      <p:sp>
        <p:nvSpPr>
          <p:cNvPr id="24" name="Text 20"/>
          <p:cNvSpPr/>
          <p:nvPr/>
        </p:nvSpPr>
        <p:spPr>
          <a:xfrm>
            <a:off x="7818120" y="3968496"/>
            <a:ext cx="3913632" cy="1417320"/>
          </a:xfrm>
          <a:prstGeom prst="rect">
            <a:avLst/>
          </a:prstGeom>
          <a:noFill/>
          <a:ln/>
        </p:spPr>
        <p:txBody>
          <a:bodyPr wrap="square" lIns="0" tIns="0" rIns="0" bIns="0" rtlCol="0" anchor="t"/>
          <a:lstStyle/>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Anomaly Trend Over Time</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Risk Category Distribution</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High Usage vs Anomaly Analysis</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Sensor Health &amp; Outage Risk</a:t>
            </a:r>
            <a:endParaRPr lang="en-US" sz="1050" dirty="0"/>
          </a:p>
        </p:txBody>
      </p:sp>
      <p:sp>
        <p:nvSpPr>
          <p:cNvPr id="25" name="Shape 21"/>
          <p:cNvSpPr/>
          <p:nvPr/>
        </p:nvSpPr>
        <p:spPr>
          <a:xfrm>
            <a:off x="7818120" y="5193792"/>
            <a:ext cx="3913632" cy="1133856"/>
          </a:xfrm>
          <a:prstGeom prst="roundRect">
            <a:avLst>
              <a:gd name="adj" fmla="val 6452"/>
            </a:avLst>
          </a:prstGeom>
          <a:solidFill>
            <a:srgbClr val="0D2038"/>
          </a:solidFill>
          <a:ln w="9525">
            <a:solidFill>
              <a:srgbClr val="1E3E64"/>
            </a:solidFill>
            <a:prstDash val="solid"/>
          </a:ln>
        </p:spPr>
      </p:sp>
      <p:sp>
        <p:nvSpPr>
          <p:cNvPr id="26" name="Text 22"/>
          <p:cNvSpPr/>
          <p:nvPr/>
        </p:nvSpPr>
        <p:spPr>
          <a:xfrm>
            <a:off x="7982712" y="5285232"/>
            <a:ext cx="3584448" cy="182880"/>
          </a:xfrm>
          <a:prstGeom prst="rect">
            <a:avLst/>
          </a:prstGeom>
          <a:noFill/>
          <a:ln/>
        </p:spPr>
        <p:txBody>
          <a:bodyPr wrap="square" lIns="0" tIns="0" rIns="0" bIns="0" rtlCol="0" anchor="ctr"/>
          <a:lstStyle/>
          <a:p>
            <a:pPr marL="0" indent="0">
              <a:buNone/>
            </a:pPr>
            <a:r>
              <a:rPr lang="en-US" sz="850" b="1" kern="0" spc="100" dirty="0">
                <a:solidFill>
                  <a:srgbClr val="FFC94A"/>
                </a:solidFill>
                <a:latin typeface="Calibri" pitchFamily="34" charset="0"/>
                <a:ea typeface="Calibri" pitchFamily="34" charset="-122"/>
                <a:cs typeface="Calibri" pitchFamily="34" charset="-120"/>
              </a:rPr>
              <a:t>DAX FOCUS</a:t>
            </a:r>
            <a:endParaRPr lang="en-US" sz="850" dirty="0"/>
          </a:p>
        </p:txBody>
      </p:sp>
      <p:sp>
        <p:nvSpPr>
          <p:cNvPr id="27" name="Text 23"/>
          <p:cNvSpPr/>
          <p:nvPr/>
        </p:nvSpPr>
        <p:spPr>
          <a:xfrm>
            <a:off x="7982712" y="5486400"/>
            <a:ext cx="3584448" cy="768096"/>
          </a:xfrm>
          <a:prstGeom prst="rect">
            <a:avLst/>
          </a:prstGeom>
          <a:noFill/>
          <a:ln/>
        </p:spPr>
        <p:txBody>
          <a:bodyPr wrap="square" lIns="0" tIns="0" rIns="0" bIns="0" rtlCol="0" anchor="ctr"/>
          <a:lstStyle/>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Total Anomalies =</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SUM(anomaly_flag)</a:t>
            </a:r>
            <a:endParaRPr lang="en-US" sz="850" dirty="0"/>
          </a:p>
          <a:p>
            <a:pPr marL="0" indent="0">
              <a:lnSpc>
                <a:spcPct val="100000"/>
              </a:lnSpc>
              <a:buNone/>
            </a:pP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Avg Risk Score =</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AVERAGE(outage_risk_score)</a:t>
            </a:r>
            <a:endParaRPr lang="en-US" sz="850" dirty="0"/>
          </a:p>
        </p:txBody>
      </p:sp>
      <p:sp>
        <p:nvSpPr>
          <p:cNvPr id="28" name="Text 24"/>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29" name="Text 25"/>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DASHBOARD · PAGE 3</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Page 3 — Forecasting &amp; Consumption Insights</a:t>
            </a:r>
            <a:endParaRPr lang="en-US" sz="26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Actual vs. predicted demand and consumption patterns</a:t>
            </a:r>
            <a:endParaRPr lang="en-US" sz="1400" dirty="0"/>
          </a:p>
        </p:txBody>
      </p:sp>
      <p:sp>
        <p:nvSpPr>
          <p:cNvPr id="11" name="Shape 8"/>
          <p:cNvSpPr/>
          <p:nvPr/>
        </p:nvSpPr>
        <p:spPr>
          <a:xfrm>
            <a:off x="402336" y="1728216"/>
            <a:ext cx="7196328" cy="4095442"/>
          </a:xfrm>
          <a:prstGeom prst="roundRect">
            <a:avLst>
              <a:gd name="adj" fmla="val 1116"/>
            </a:avLst>
          </a:prstGeom>
          <a:solidFill>
            <a:srgbClr val="081428"/>
          </a:solidFill>
          <a:ln w="12700">
            <a:solidFill>
              <a:srgbClr val="29D3FF"/>
            </a:solidFill>
            <a:prstDash val="solid"/>
          </a:ln>
        </p:spPr>
      </p:sp>
      <p:pic>
        <p:nvPicPr>
          <p:cNvPr id="12" name="Image 1" descr="/home/claude/gridsense/page3.png"/>
          <p:cNvPicPr>
            <a:picLocks noChangeAspect="1"/>
          </p:cNvPicPr>
          <p:nvPr/>
        </p:nvPicPr>
        <p:blipFill>
          <a:blip r:embed="rId4"/>
          <a:stretch>
            <a:fillRect/>
          </a:stretch>
        </p:blipFill>
        <p:spPr>
          <a:xfrm>
            <a:off x="457200" y="1783080"/>
            <a:ext cx="7086600" cy="3985714"/>
          </a:xfrm>
          <a:prstGeom prst="rect">
            <a:avLst/>
          </a:prstGeom>
        </p:spPr>
      </p:pic>
      <p:sp>
        <p:nvSpPr>
          <p:cNvPr id="13" name="Text 9"/>
          <p:cNvSpPr/>
          <p:nvPr/>
        </p:nvSpPr>
        <p:spPr>
          <a:xfrm>
            <a:off x="457200" y="5878522"/>
            <a:ext cx="7086600" cy="274320"/>
          </a:xfrm>
          <a:prstGeom prst="rect">
            <a:avLst/>
          </a:prstGeom>
          <a:noFill/>
          <a:ln/>
        </p:spPr>
        <p:txBody>
          <a:bodyPr wrap="square" lIns="0" tIns="0" rIns="0" bIns="0" rtlCol="0" anchor="ctr"/>
          <a:lstStyle/>
          <a:p>
            <a:pPr marL="0" indent="0">
              <a:buNone/>
            </a:pPr>
            <a:r>
              <a:rPr lang="en-US" sz="950" i="1" dirty="0">
                <a:solidFill>
                  <a:srgbClr val="89A2C4"/>
                </a:solidFill>
                <a:latin typeface="Calibri" pitchFamily="34" charset="0"/>
                <a:ea typeface="Calibri" pitchFamily="34" charset="-122"/>
                <a:cs typeface="Calibri" pitchFamily="34" charset="-120"/>
              </a:rPr>
              <a:t>Live Power BI dashboard screenshot — existing implementation</a:t>
            </a:r>
            <a:endParaRPr lang="en-US" sz="950" dirty="0"/>
          </a:p>
        </p:txBody>
      </p:sp>
      <p:sp>
        <p:nvSpPr>
          <p:cNvPr id="14" name="Text 10"/>
          <p:cNvSpPr/>
          <p:nvPr/>
        </p:nvSpPr>
        <p:spPr>
          <a:xfrm>
            <a:off x="7818120" y="1783080"/>
            <a:ext cx="3657600" cy="274320"/>
          </a:xfrm>
          <a:prstGeom prst="rect">
            <a:avLst/>
          </a:prstGeom>
          <a:noFill/>
          <a:ln/>
        </p:spPr>
        <p:txBody>
          <a:bodyPr wrap="square" lIns="0" tIns="0" rIns="0" bIns="0" rtlCol="0" anchor="ctr"/>
          <a:lstStyle/>
          <a:p>
            <a:pPr marL="0" indent="0">
              <a:buNone/>
            </a:pPr>
            <a:r>
              <a:rPr lang="en-US" sz="1100" b="1" kern="0" spc="120" dirty="0">
                <a:solidFill>
                  <a:srgbClr val="3ED598"/>
                </a:solidFill>
                <a:latin typeface="Calibri" pitchFamily="34" charset="0"/>
                <a:ea typeface="Calibri" pitchFamily="34" charset="-122"/>
                <a:cs typeface="Calibri" pitchFamily="34" charset="-120"/>
              </a:rPr>
              <a:t>KPI CARDS</a:t>
            </a:r>
            <a:endParaRPr lang="en-US" sz="1100" dirty="0"/>
          </a:p>
        </p:txBody>
      </p:sp>
      <p:sp>
        <p:nvSpPr>
          <p:cNvPr id="15" name="Shape 11"/>
          <p:cNvSpPr/>
          <p:nvPr/>
        </p:nvSpPr>
        <p:spPr>
          <a:xfrm>
            <a:off x="7818120" y="2084832"/>
            <a:ext cx="1888236" cy="548640"/>
          </a:xfrm>
          <a:prstGeom prst="roundRect">
            <a:avLst>
              <a:gd name="adj" fmla="val 13333"/>
            </a:avLst>
          </a:prstGeom>
          <a:solidFill>
            <a:srgbClr val="0F2648"/>
          </a:solidFill>
          <a:ln w="9525">
            <a:solidFill>
              <a:srgbClr val="1E3E64"/>
            </a:solidFill>
            <a:prstDash val="solid"/>
          </a:ln>
        </p:spPr>
      </p:sp>
      <p:sp>
        <p:nvSpPr>
          <p:cNvPr id="16" name="Text 12"/>
          <p:cNvSpPr/>
          <p:nvPr/>
        </p:nvSpPr>
        <p:spPr>
          <a:xfrm>
            <a:off x="7927848" y="2084832"/>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Forecasted Energy Demand</a:t>
            </a:r>
            <a:endParaRPr lang="en-US" sz="1000" dirty="0"/>
          </a:p>
        </p:txBody>
      </p:sp>
      <p:sp>
        <p:nvSpPr>
          <p:cNvPr id="17" name="Shape 13"/>
          <p:cNvSpPr/>
          <p:nvPr/>
        </p:nvSpPr>
        <p:spPr>
          <a:xfrm>
            <a:off x="9843516" y="2084832"/>
            <a:ext cx="1888236" cy="548640"/>
          </a:xfrm>
          <a:prstGeom prst="roundRect">
            <a:avLst>
              <a:gd name="adj" fmla="val 13333"/>
            </a:avLst>
          </a:prstGeom>
          <a:solidFill>
            <a:srgbClr val="0F2648"/>
          </a:solidFill>
          <a:ln w="9525">
            <a:solidFill>
              <a:srgbClr val="1E3E64"/>
            </a:solidFill>
            <a:prstDash val="solid"/>
          </a:ln>
        </p:spPr>
      </p:sp>
      <p:sp>
        <p:nvSpPr>
          <p:cNvPr id="18" name="Text 14"/>
          <p:cNvSpPr/>
          <p:nvPr/>
        </p:nvSpPr>
        <p:spPr>
          <a:xfrm>
            <a:off x="9953244" y="2084832"/>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Average Forecast Error</a:t>
            </a:r>
            <a:endParaRPr lang="en-US" sz="1000" dirty="0"/>
          </a:p>
        </p:txBody>
      </p:sp>
      <p:sp>
        <p:nvSpPr>
          <p:cNvPr id="19" name="Shape 15"/>
          <p:cNvSpPr/>
          <p:nvPr/>
        </p:nvSpPr>
        <p:spPr>
          <a:xfrm>
            <a:off x="7818120" y="2743200"/>
            <a:ext cx="1888236" cy="548640"/>
          </a:xfrm>
          <a:prstGeom prst="roundRect">
            <a:avLst>
              <a:gd name="adj" fmla="val 13333"/>
            </a:avLst>
          </a:prstGeom>
          <a:solidFill>
            <a:srgbClr val="0F2648"/>
          </a:solidFill>
          <a:ln w="9525">
            <a:solidFill>
              <a:srgbClr val="1E3E64"/>
            </a:solidFill>
            <a:prstDash val="solid"/>
          </a:ln>
        </p:spPr>
      </p:sp>
      <p:sp>
        <p:nvSpPr>
          <p:cNvPr id="20" name="Text 16"/>
          <p:cNvSpPr/>
          <p:nvPr/>
        </p:nvSpPr>
        <p:spPr>
          <a:xfrm>
            <a:off x="7927848" y="2743200"/>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Peak Consumption</a:t>
            </a:r>
            <a:endParaRPr lang="en-US" sz="1000" dirty="0"/>
          </a:p>
        </p:txBody>
      </p:sp>
      <p:sp>
        <p:nvSpPr>
          <p:cNvPr id="21" name="Shape 17"/>
          <p:cNvSpPr/>
          <p:nvPr/>
        </p:nvSpPr>
        <p:spPr>
          <a:xfrm>
            <a:off x="9843516" y="2743200"/>
            <a:ext cx="1888236" cy="548640"/>
          </a:xfrm>
          <a:prstGeom prst="roundRect">
            <a:avLst>
              <a:gd name="adj" fmla="val 13333"/>
            </a:avLst>
          </a:prstGeom>
          <a:solidFill>
            <a:srgbClr val="0F2648"/>
          </a:solidFill>
          <a:ln w="9525">
            <a:solidFill>
              <a:srgbClr val="1E3E64"/>
            </a:solidFill>
            <a:prstDash val="solid"/>
          </a:ln>
        </p:spPr>
      </p:sp>
      <p:sp>
        <p:nvSpPr>
          <p:cNvPr id="22" name="Text 18"/>
          <p:cNvSpPr/>
          <p:nvPr/>
        </p:nvSpPr>
        <p:spPr>
          <a:xfrm>
            <a:off x="9953244" y="2743200"/>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Total Meter Readings</a:t>
            </a:r>
            <a:endParaRPr lang="en-US" sz="1000" dirty="0"/>
          </a:p>
        </p:txBody>
      </p:sp>
      <p:sp>
        <p:nvSpPr>
          <p:cNvPr id="23" name="Text 19"/>
          <p:cNvSpPr/>
          <p:nvPr/>
        </p:nvSpPr>
        <p:spPr>
          <a:xfrm>
            <a:off x="7818120" y="3657600"/>
            <a:ext cx="3657600" cy="274320"/>
          </a:xfrm>
          <a:prstGeom prst="rect">
            <a:avLst/>
          </a:prstGeom>
          <a:noFill/>
          <a:ln/>
        </p:spPr>
        <p:txBody>
          <a:bodyPr wrap="square" lIns="0" tIns="0" rIns="0" bIns="0" rtlCol="0" anchor="ctr"/>
          <a:lstStyle/>
          <a:p>
            <a:pPr marL="0" indent="0">
              <a:buNone/>
            </a:pPr>
            <a:r>
              <a:rPr lang="en-US" sz="1100" b="1" kern="0" spc="120" dirty="0">
                <a:solidFill>
                  <a:srgbClr val="29D3FF"/>
                </a:solidFill>
                <a:latin typeface="Calibri" pitchFamily="34" charset="0"/>
                <a:ea typeface="Calibri" pitchFamily="34" charset="-122"/>
                <a:cs typeface="Calibri" pitchFamily="34" charset="-120"/>
              </a:rPr>
              <a:t>KEY VISUALS</a:t>
            </a:r>
            <a:endParaRPr lang="en-US" sz="1100" dirty="0"/>
          </a:p>
        </p:txBody>
      </p:sp>
      <p:sp>
        <p:nvSpPr>
          <p:cNvPr id="24" name="Text 20"/>
          <p:cNvSpPr/>
          <p:nvPr/>
        </p:nvSpPr>
        <p:spPr>
          <a:xfrm>
            <a:off x="7818120" y="3968496"/>
            <a:ext cx="3913632" cy="1417320"/>
          </a:xfrm>
          <a:prstGeom prst="rect">
            <a:avLst/>
          </a:prstGeom>
          <a:noFill/>
          <a:ln/>
        </p:spPr>
        <p:txBody>
          <a:bodyPr wrap="square" lIns="0" tIns="0" rIns="0" bIns="0" rtlCol="0" anchor="t"/>
          <a:lstStyle/>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Actual vs Predicted Consumption</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Hourly Energy Demand Pattern</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Consumption by Day of Week</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Peak vs Off-Peak Consumption by Building Type</a:t>
            </a:r>
            <a:endParaRPr lang="en-US" sz="1050" dirty="0"/>
          </a:p>
        </p:txBody>
      </p:sp>
      <p:sp>
        <p:nvSpPr>
          <p:cNvPr id="25" name="Shape 21"/>
          <p:cNvSpPr/>
          <p:nvPr/>
        </p:nvSpPr>
        <p:spPr>
          <a:xfrm>
            <a:off x="7818120" y="5193792"/>
            <a:ext cx="3913632" cy="1133856"/>
          </a:xfrm>
          <a:prstGeom prst="roundRect">
            <a:avLst>
              <a:gd name="adj" fmla="val 6452"/>
            </a:avLst>
          </a:prstGeom>
          <a:solidFill>
            <a:srgbClr val="0D2038"/>
          </a:solidFill>
          <a:ln w="9525">
            <a:solidFill>
              <a:srgbClr val="1E3E64"/>
            </a:solidFill>
            <a:prstDash val="solid"/>
          </a:ln>
        </p:spPr>
      </p:sp>
      <p:sp>
        <p:nvSpPr>
          <p:cNvPr id="26" name="Text 22"/>
          <p:cNvSpPr/>
          <p:nvPr/>
        </p:nvSpPr>
        <p:spPr>
          <a:xfrm>
            <a:off x="7982712" y="5285232"/>
            <a:ext cx="3584448" cy="182880"/>
          </a:xfrm>
          <a:prstGeom prst="rect">
            <a:avLst/>
          </a:prstGeom>
          <a:noFill/>
          <a:ln/>
        </p:spPr>
        <p:txBody>
          <a:bodyPr wrap="square" lIns="0" tIns="0" rIns="0" bIns="0" rtlCol="0" anchor="ctr"/>
          <a:lstStyle/>
          <a:p>
            <a:pPr marL="0" indent="0">
              <a:buNone/>
            </a:pPr>
            <a:r>
              <a:rPr lang="en-US" sz="850" b="1" kern="0" spc="100" dirty="0">
                <a:solidFill>
                  <a:srgbClr val="FFC94A"/>
                </a:solidFill>
                <a:latin typeface="Calibri" pitchFamily="34" charset="0"/>
                <a:ea typeface="Calibri" pitchFamily="34" charset="-122"/>
                <a:cs typeface="Calibri" pitchFamily="34" charset="-120"/>
              </a:rPr>
              <a:t>DAX FOCUS</a:t>
            </a:r>
            <a:endParaRPr lang="en-US" sz="850" dirty="0"/>
          </a:p>
        </p:txBody>
      </p:sp>
      <p:sp>
        <p:nvSpPr>
          <p:cNvPr id="27" name="Text 23"/>
          <p:cNvSpPr/>
          <p:nvPr/>
        </p:nvSpPr>
        <p:spPr>
          <a:xfrm>
            <a:off x="7982712" y="5486400"/>
            <a:ext cx="3584448" cy="768096"/>
          </a:xfrm>
          <a:prstGeom prst="rect">
            <a:avLst/>
          </a:prstGeom>
          <a:noFill/>
          <a:ln/>
        </p:spPr>
        <p:txBody>
          <a:bodyPr wrap="square" lIns="0" tIns="0" rIns="0" bIns="0" rtlCol="0" anchor="ctr"/>
          <a:lstStyle/>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Forecast Demand =</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SUM(next_hour_consumption_kwh)</a:t>
            </a:r>
            <a:endParaRPr lang="en-US" sz="850" dirty="0"/>
          </a:p>
          <a:p>
            <a:pPr marL="0" indent="0">
              <a:lnSpc>
                <a:spcPct val="100000"/>
              </a:lnSpc>
              <a:buNone/>
            </a:pP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Avg Forecast Error =</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AVERAGE([Forecast Error])</a:t>
            </a:r>
            <a:endParaRPr lang="en-US" sz="850" dirty="0"/>
          </a:p>
        </p:txBody>
      </p:sp>
      <p:sp>
        <p:nvSpPr>
          <p:cNvPr id="28" name="Text 24"/>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29" name="Text 25"/>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DASHBOARD · PAGE 4</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Page 4 — Weather &amp; Environmental Intelligence</a:t>
            </a:r>
            <a:endParaRPr lang="en-US" sz="26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Correlating temperature, wind and humidity with energy demand</a:t>
            </a:r>
            <a:endParaRPr lang="en-US" sz="1400" dirty="0"/>
          </a:p>
        </p:txBody>
      </p:sp>
      <p:sp>
        <p:nvSpPr>
          <p:cNvPr id="11" name="Shape 8"/>
          <p:cNvSpPr/>
          <p:nvPr/>
        </p:nvSpPr>
        <p:spPr>
          <a:xfrm>
            <a:off x="402336" y="1728216"/>
            <a:ext cx="7196328" cy="4095442"/>
          </a:xfrm>
          <a:prstGeom prst="roundRect">
            <a:avLst>
              <a:gd name="adj" fmla="val 1116"/>
            </a:avLst>
          </a:prstGeom>
          <a:solidFill>
            <a:srgbClr val="081428"/>
          </a:solidFill>
          <a:ln w="12700">
            <a:solidFill>
              <a:srgbClr val="29D3FF"/>
            </a:solidFill>
            <a:prstDash val="solid"/>
          </a:ln>
        </p:spPr>
      </p:sp>
      <p:sp>
        <p:nvSpPr>
          <p:cNvPr id="13" name="Text 9"/>
          <p:cNvSpPr/>
          <p:nvPr/>
        </p:nvSpPr>
        <p:spPr>
          <a:xfrm>
            <a:off x="457200" y="5878522"/>
            <a:ext cx="7086600" cy="274320"/>
          </a:xfrm>
          <a:prstGeom prst="rect">
            <a:avLst/>
          </a:prstGeom>
          <a:noFill/>
          <a:ln/>
        </p:spPr>
        <p:txBody>
          <a:bodyPr wrap="square" lIns="0" tIns="0" rIns="0" bIns="0" rtlCol="0" anchor="ctr"/>
          <a:lstStyle/>
          <a:p>
            <a:pPr marL="0" indent="0">
              <a:buNone/>
            </a:pPr>
            <a:r>
              <a:rPr lang="en-US" sz="950" i="1" dirty="0">
                <a:solidFill>
                  <a:srgbClr val="89A2C4"/>
                </a:solidFill>
                <a:latin typeface="Calibri" pitchFamily="34" charset="0"/>
                <a:ea typeface="Calibri" pitchFamily="34" charset="-122"/>
                <a:cs typeface="Calibri" pitchFamily="34" charset="-120"/>
              </a:rPr>
              <a:t>Live Power BI dashboard screenshot — existing implementation</a:t>
            </a:r>
            <a:endParaRPr lang="en-US" sz="950" dirty="0"/>
          </a:p>
        </p:txBody>
      </p:sp>
      <p:sp>
        <p:nvSpPr>
          <p:cNvPr id="14" name="Text 10"/>
          <p:cNvSpPr/>
          <p:nvPr/>
        </p:nvSpPr>
        <p:spPr>
          <a:xfrm>
            <a:off x="7818120" y="1783080"/>
            <a:ext cx="3657600" cy="274320"/>
          </a:xfrm>
          <a:prstGeom prst="rect">
            <a:avLst/>
          </a:prstGeom>
          <a:noFill/>
          <a:ln/>
        </p:spPr>
        <p:txBody>
          <a:bodyPr wrap="square" lIns="0" tIns="0" rIns="0" bIns="0" rtlCol="0" anchor="ctr"/>
          <a:lstStyle/>
          <a:p>
            <a:pPr marL="0" indent="0">
              <a:buNone/>
            </a:pPr>
            <a:r>
              <a:rPr lang="en-US" sz="1100" b="1" kern="0" spc="120" dirty="0">
                <a:solidFill>
                  <a:srgbClr val="3ED598"/>
                </a:solidFill>
                <a:latin typeface="Calibri" pitchFamily="34" charset="0"/>
                <a:ea typeface="Calibri" pitchFamily="34" charset="-122"/>
                <a:cs typeface="Calibri" pitchFamily="34" charset="-120"/>
              </a:rPr>
              <a:t>KPI CARDS</a:t>
            </a:r>
            <a:endParaRPr lang="en-US" sz="1100" dirty="0"/>
          </a:p>
        </p:txBody>
      </p:sp>
      <p:sp>
        <p:nvSpPr>
          <p:cNvPr id="15" name="Shape 11"/>
          <p:cNvSpPr/>
          <p:nvPr/>
        </p:nvSpPr>
        <p:spPr>
          <a:xfrm>
            <a:off x="7818120" y="2084832"/>
            <a:ext cx="1888236" cy="548640"/>
          </a:xfrm>
          <a:prstGeom prst="roundRect">
            <a:avLst>
              <a:gd name="adj" fmla="val 13333"/>
            </a:avLst>
          </a:prstGeom>
          <a:solidFill>
            <a:srgbClr val="0F2648"/>
          </a:solidFill>
          <a:ln w="9525">
            <a:solidFill>
              <a:srgbClr val="1E3E64"/>
            </a:solidFill>
            <a:prstDash val="solid"/>
          </a:ln>
        </p:spPr>
      </p:sp>
      <p:sp>
        <p:nvSpPr>
          <p:cNvPr id="16" name="Text 12"/>
          <p:cNvSpPr/>
          <p:nvPr/>
        </p:nvSpPr>
        <p:spPr>
          <a:xfrm>
            <a:off x="7927848" y="2084832"/>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Average Temperature</a:t>
            </a:r>
            <a:endParaRPr lang="en-US" sz="1000" dirty="0"/>
          </a:p>
        </p:txBody>
      </p:sp>
      <p:sp>
        <p:nvSpPr>
          <p:cNvPr id="17" name="Shape 13"/>
          <p:cNvSpPr/>
          <p:nvPr/>
        </p:nvSpPr>
        <p:spPr>
          <a:xfrm>
            <a:off x="9843516" y="2084832"/>
            <a:ext cx="1888236" cy="548640"/>
          </a:xfrm>
          <a:prstGeom prst="roundRect">
            <a:avLst>
              <a:gd name="adj" fmla="val 13333"/>
            </a:avLst>
          </a:prstGeom>
          <a:solidFill>
            <a:srgbClr val="0F2648"/>
          </a:solidFill>
          <a:ln w="9525">
            <a:solidFill>
              <a:srgbClr val="1E3E64"/>
            </a:solidFill>
            <a:prstDash val="solid"/>
          </a:ln>
        </p:spPr>
      </p:sp>
      <p:sp>
        <p:nvSpPr>
          <p:cNvPr id="18" name="Text 14"/>
          <p:cNvSpPr/>
          <p:nvPr/>
        </p:nvSpPr>
        <p:spPr>
          <a:xfrm>
            <a:off x="9953244" y="2084832"/>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Average Wind Speed</a:t>
            </a:r>
            <a:endParaRPr lang="en-US" sz="1000" dirty="0"/>
          </a:p>
        </p:txBody>
      </p:sp>
      <p:sp>
        <p:nvSpPr>
          <p:cNvPr id="19" name="Shape 15"/>
          <p:cNvSpPr/>
          <p:nvPr/>
        </p:nvSpPr>
        <p:spPr>
          <a:xfrm>
            <a:off x="7818120" y="2743200"/>
            <a:ext cx="1888236" cy="548640"/>
          </a:xfrm>
          <a:prstGeom prst="roundRect">
            <a:avLst>
              <a:gd name="adj" fmla="val 13333"/>
            </a:avLst>
          </a:prstGeom>
          <a:solidFill>
            <a:srgbClr val="0F2648"/>
          </a:solidFill>
          <a:ln w="9525">
            <a:solidFill>
              <a:srgbClr val="1E3E64"/>
            </a:solidFill>
            <a:prstDash val="solid"/>
          </a:ln>
        </p:spPr>
      </p:sp>
      <p:sp>
        <p:nvSpPr>
          <p:cNvPr id="20" name="Text 16"/>
          <p:cNvSpPr/>
          <p:nvPr/>
        </p:nvSpPr>
        <p:spPr>
          <a:xfrm>
            <a:off x="7927848" y="2743200"/>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Average Humidity</a:t>
            </a:r>
            <a:endParaRPr lang="en-US" sz="1000" dirty="0"/>
          </a:p>
        </p:txBody>
      </p:sp>
      <p:sp>
        <p:nvSpPr>
          <p:cNvPr id="21" name="Shape 17"/>
          <p:cNvSpPr/>
          <p:nvPr/>
        </p:nvSpPr>
        <p:spPr>
          <a:xfrm>
            <a:off x="9843516" y="2743200"/>
            <a:ext cx="1888236" cy="548640"/>
          </a:xfrm>
          <a:prstGeom prst="roundRect">
            <a:avLst>
              <a:gd name="adj" fmla="val 13333"/>
            </a:avLst>
          </a:prstGeom>
          <a:solidFill>
            <a:srgbClr val="0F2648"/>
          </a:solidFill>
          <a:ln w="9525">
            <a:solidFill>
              <a:srgbClr val="1E3E64"/>
            </a:solidFill>
            <a:prstDash val="solid"/>
          </a:ln>
        </p:spPr>
      </p:sp>
      <p:sp>
        <p:nvSpPr>
          <p:cNvPr id="22" name="Text 18"/>
          <p:cNvSpPr/>
          <p:nvPr/>
        </p:nvSpPr>
        <p:spPr>
          <a:xfrm>
            <a:off x="9953244" y="2743200"/>
            <a:ext cx="1668780" cy="548640"/>
          </a:xfrm>
          <a:prstGeom prst="rect">
            <a:avLst/>
          </a:prstGeom>
          <a:noFill/>
          <a:ln/>
        </p:spPr>
        <p:txBody>
          <a:bodyPr wrap="square" lIns="0" tIns="0" rIns="0" bIns="0" rtlCol="0" anchor="ctr"/>
          <a:lstStyle/>
          <a:p>
            <a:pPr marL="0" indent="0">
              <a:lnSpc>
                <a:spcPct val="100000"/>
              </a:lnSpc>
              <a:buNone/>
            </a:pPr>
            <a:r>
              <a:rPr lang="en-US" sz="1000" b="1" dirty="0">
                <a:solidFill>
                  <a:srgbClr val="D7E6FF"/>
                </a:solidFill>
                <a:latin typeface="Calibri" pitchFamily="34" charset="0"/>
                <a:ea typeface="Calibri" pitchFamily="34" charset="-122"/>
                <a:cs typeface="Calibri" pitchFamily="34" charset="-120"/>
              </a:rPr>
              <a:t>Total Solar Generation</a:t>
            </a:r>
            <a:endParaRPr lang="en-US" sz="1000" dirty="0"/>
          </a:p>
        </p:txBody>
      </p:sp>
      <p:sp>
        <p:nvSpPr>
          <p:cNvPr id="23" name="Text 19"/>
          <p:cNvSpPr/>
          <p:nvPr/>
        </p:nvSpPr>
        <p:spPr>
          <a:xfrm>
            <a:off x="7818120" y="3657600"/>
            <a:ext cx="3657600" cy="274320"/>
          </a:xfrm>
          <a:prstGeom prst="rect">
            <a:avLst/>
          </a:prstGeom>
          <a:noFill/>
          <a:ln/>
        </p:spPr>
        <p:txBody>
          <a:bodyPr wrap="square" lIns="0" tIns="0" rIns="0" bIns="0" rtlCol="0" anchor="ctr"/>
          <a:lstStyle/>
          <a:p>
            <a:pPr marL="0" indent="0">
              <a:buNone/>
            </a:pPr>
            <a:r>
              <a:rPr lang="en-US" sz="1100" b="1" kern="0" spc="120" dirty="0">
                <a:solidFill>
                  <a:srgbClr val="29D3FF"/>
                </a:solidFill>
                <a:latin typeface="Calibri" pitchFamily="34" charset="0"/>
                <a:ea typeface="Calibri" pitchFamily="34" charset="-122"/>
                <a:cs typeface="Calibri" pitchFamily="34" charset="-120"/>
              </a:rPr>
              <a:t>KEY VISUALS</a:t>
            </a:r>
            <a:endParaRPr lang="en-US" sz="1100" dirty="0"/>
          </a:p>
        </p:txBody>
      </p:sp>
      <p:sp>
        <p:nvSpPr>
          <p:cNvPr id="24" name="Text 20"/>
          <p:cNvSpPr/>
          <p:nvPr/>
        </p:nvSpPr>
        <p:spPr>
          <a:xfrm>
            <a:off x="7818120" y="3968496"/>
            <a:ext cx="3913632" cy="1417320"/>
          </a:xfrm>
          <a:prstGeom prst="rect">
            <a:avLst/>
          </a:prstGeom>
          <a:noFill/>
          <a:ln/>
        </p:spPr>
        <p:txBody>
          <a:bodyPr wrap="square" lIns="0" tIns="0" rIns="0" bIns="0" rtlCol="0" anchor="t"/>
          <a:lstStyle/>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Temperature Trend Over Time</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Weather Impact on Energy Consumption</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Wind Speed vs Energy Demand</a:t>
            </a:r>
            <a:endParaRPr lang="en-US" sz="1050" dirty="0"/>
          </a:p>
          <a:p>
            <a:pPr marL="342900" indent="-342900">
              <a:lnSpc>
                <a:spcPct val="112000"/>
              </a:lnSpc>
              <a:spcAft>
                <a:spcPts val="500"/>
              </a:spcAft>
              <a:buSzPct val="100000"/>
              <a:buChar char="▸"/>
            </a:pPr>
            <a:r>
              <a:rPr lang="en-US" sz="1050" dirty="0">
                <a:solidFill>
                  <a:srgbClr val="D7E6FF"/>
                </a:solidFill>
                <a:latin typeface="Calibri" pitchFamily="34" charset="0"/>
                <a:ea typeface="Calibri" pitchFamily="34" charset="-122"/>
                <a:cs typeface="Calibri" pitchFamily="34" charset="-120"/>
              </a:rPr>
              <a:t>Solar Generation by Temperature Range</a:t>
            </a:r>
            <a:endParaRPr lang="en-US" sz="1050" dirty="0"/>
          </a:p>
        </p:txBody>
      </p:sp>
      <p:sp>
        <p:nvSpPr>
          <p:cNvPr id="25" name="Shape 21"/>
          <p:cNvSpPr/>
          <p:nvPr/>
        </p:nvSpPr>
        <p:spPr>
          <a:xfrm>
            <a:off x="7818120" y="5193792"/>
            <a:ext cx="3913632" cy="1133856"/>
          </a:xfrm>
          <a:prstGeom prst="roundRect">
            <a:avLst>
              <a:gd name="adj" fmla="val 6452"/>
            </a:avLst>
          </a:prstGeom>
          <a:solidFill>
            <a:srgbClr val="0D2038"/>
          </a:solidFill>
          <a:ln w="9525">
            <a:solidFill>
              <a:srgbClr val="1E3E64"/>
            </a:solidFill>
            <a:prstDash val="solid"/>
          </a:ln>
        </p:spPr>
      </p:sp>
      <p:sp>
        <p:nvSpPr>
          <p:cNvPr id="26" name="Text 22"/>
          <p:cNvSpPr/>
          <p:nvPr/>
        </p:nvSpPr>
        <p:spPr>
          <a:xfrm>
            <a:off x="7982712" y="5285232"/>
            <a:ext cx="3584448" cy="182880"/>
          </a:xfrm>
          <a:prstGeom prst="rect">
            <a:avLst/>
          </a:prstGeom>
          <a:noFill/>
          <a:ln/>
        </p:spPr>
        <p:txBody>
          <a:bodyPr wrap="square" lIns="0" tIns="0" rIns="0" bIns="0" rtlCol="0" anchor="ctr"/>
          <a:lstStyle/>
          <a:p>
            <a:pPr marL="0" indent="0">
              <a:buNone/>
            </a:pPr>
            <a:r>
              <a:rPr lang="en-US" sz="850" b="1" kern="0" spc="100" dirty="0">
                <a:solidFill>
                  <a:srgbClr val="FFC94A"/>
                </a:solidFill>
                <a:latin typeface="Calibri" pitchFamily="34" charset="0"/>
                <a:ea typeface="Calibri" pitchFamily="34" charset="-122"/>
                <a:cs typeface="Calibri" pitchFamily="34" charset="-120"/>
              </a:rPr>
              <a:t>DAX FOCUS</a:t>
            </a:r>
            <a:endParaRPr lang="en-US" sz="850" dirty="0"/>
          </a:p>
        </p:txBody>
      </p:sp>
      <p:sp>
        <p:nvSpPr>
          <p:cNvPr id="27" name="Text 23"/>
          <p:cNvSpPr/>
          <p:nvPr/>
        </p:nvSpPr>
        <p:spPr>
          <a:xfrm>
            <a:off x="7982712" y="5486400"/>
            <a:ext cx="3584448" cy="768096"/>
          </a:xfrm>
          <a:prstGeom prst="rect">
            <a:avLst/>
          </a:prstGeom>
          <a:noFill/>
          <a:ln/>
        </p:spPr>
        <p:txBody>
          <a:bodyPr wrap="square" lIns="0" tIns="0" rIns="0" bIns="0" rtlCol="0" anchor="ctr"/>
          <a:lstStyle/>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Avg Temperature =</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AVERAGE(temp_c)</a:t>
            </a:r>
            <a:endParaRPr lang="en-US" sz="850" dirty="0"/>
          </a:p>
          <a:p>
            <a:pPr marL="0" indent="0">
              <a:lnSpc>
                <a:spcPct val="100000"/>
              </a:lnSpc>
              <a:buNone/>
            </a:pP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Solar by Temp Band =</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SUM(solar_generation_kwh)</a:t>
            </a:r>
            <a:endParaRPr lang="en-US" sz="850" dirty="0"/>
          </a:p>
          <a:p>
            <a:pPr marL="0" indent="0">
              <a:lnSpc>
                <a:spcPct val="100000"/>
              </a:lnSpc>
              <a:buNone/>
            </a:pPr>
            <a:r>
              <a:rPr lang="en-US" sz="850" dirty="0">
                <a:solidFill>
                  <a:srgbClr val="8FE3FF"/>
                </a:solidFill>
                <a:latin typeface="Consolas" pitchFamily="34" charset="0"/>
                <a:ea typeface="Consolas" pitchFamily="34" charset="-122"/>
                <a:cs typeface="Consolas" pitchFamily="34" charset="-120"/>
              </a:rPr>
              <a:t>by [Temperature Range]</a:t>
            </a:r>
            <a:endParaRPr lang="en-US" sz="850" dirty="0"/>
          </a:p>
        </p:txBody>
      </p:sp>
      <p:sp>
        <p:nvSpPr>
          <p:cNvPr id="28" name="Text 24"/>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29" name="Text 25"/>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11</a:t>
            </a:r>
            <a:endParaRPr lang="en-US" sz="900" dirty="0"/>
          </a:p>
        </p:txBody>
      </p:sp>
      <p:pic>
        <p:nvPicPr>
          <p:cNvPr id="33" name="Picture 32">
            <a:extLst>
              <a:ext uri="{FF2B5EF4-FFF2-40B4-BE49-F238E27FC236}">
                <a16:creationId xmlns:a16="http://schemas.microsoft.com/office/drawing/2014/main" id="{25F92867-F382-BDE3-2DFE-283DC0ADAF89}"/>
              </a:ext>
            </a:extLst>
          </p:cNvPr>
          <p:cNvPicPr>
            <a:picLocks noChangeAspect="1"/>
          </p:cNvPicPr>
          <p:nvPr/>
        </p:nvPicPr>
        <p:blipFill>
          <a:blip r:embed="rId4"/>
          <a:stretch>
            <a:fillRect/>
          </a:stretch>
        </p:blipFill>
        <p:spPr>
          <a:xfrm>
            <a:off x="457200" y="1765827"/>
            <a:ext cx="7086600" cy="40249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9814255" y="0"/>
            <a:ext cx="2377440" cy="1371600"/>
          </a:xfrm>
          <a:prstGeom prst="line">
            <a:avLst/>
          </a:prstGeom>
          <a:noFill/>
          <a:ln w="12700">
            <a:solidFill>
              <a:srgbClr val="29D3FF">
                <a:alpha val="35000"/>
              </a:srgbClr>
            </a:solidFill>
            <a:prstDash val="solid"/>
          </a:ln>
        </p:spPr>
      </p:sp>
      <p:sp>
        <p:nvSpPr>
          <p:cNvPr id="3" name="Shape 1"/>
          <p:cNvSpPr/>
          <p:nvPr/>
        </p:nvSpPr>
        <p:spPr>
          <a:xfrm>
            <a:off x="10198303" y="0"/>
            <a:ext cx="1993392" cy="1078992"/>
          </a:xfrm>
          <a:prstGeom prst="line">
            <a:avLst/>
          </a:prstGeom>
          <a:noFill/>
          <a:ln w="12700">
            <a:solidFill>
              <a:srgbClr val="29D3FF">
                <a:alpha val="35000"/>
              </a:srgbClr>
            </a:solidFill>
            <a:prstDash val="solid"/>
          </a:ln>
        </p:spPr>
      </p:sp>
      <p:sp>
        <p:nvSpPr>
          <p:cNvPr id="4" name="Shape 2"/>
          <p:cNvSpPr/>
          <p:nvPr/>
        </p:nvSpPr>
        <p:spPr>
          <a:xfrm>
            <a:off x="10582351" y="0"/>
            <a:ext cx="1609344" cy="786384"/>
          </a:xfrm>
          <a:prstGeom prst="line">
            <a:avLst/>
          </a:prstGeom>
          <a:noFill/>
          <a:ln w="12700">
            <a:solidFill>
              <a:srgbClr val="29D3FF">
                <a:alpha val="35000"/>
              </a:srgbClr>
            </a:solidFill>
            <a:prstDash val="solid"/>
          </a:ln>
        </p:spPr>
      </p:sp>
      <p:sp>
        <p:nvSpPr>
          <p:cNvPr id="5" name="Shape 3"/>
          <p:cNvSpPr/>
          <p:nvPr/>
        </p:nvSpPr>
        <p:spPr>
          <a:xfrm>
            <a:off x="10966399" y="0"/>
            <a:ext cx="1225296" cy="493776"/>
          </a:xfrm>
          <a:prstGeom prst="line">
            <a:avLst/>
          </a:prstGeom>
          <a:noFill/>
          <a:ln w="12700">
            <a:solidFill>
              <a:srgbClr val="29D3FF">
                <a:alpha val="35000"/>
              </a:srgbClr>
            </a:solidFill>
            <a:prstDash val="solid"/>
          </a:ln>
        </p:spPr>
      </p:sp>
      <p:pic>
        <p:nvPicPr>
          <p:cNvPr id="6" name="Image 0" descr="/home/claude/gridsense/icon_bolt.png"/>
          <p:cNvPicPr>
            <a:picLocks noChangeAspect="1"/>
          </p:cNvPicPr>
          <p:nvPr/>
        </p:nvPicPr>
        <p:blipFill>
          <a:blip r:embed="rId3"/>
          <a:stretch>
            <a:fillRect/>
          </a:stretch>
        </p:blipFill>
        <p:spPr>
          <a:xfrm>
            <a:off x="457200" y="292608"/>
            <a:ext cx="219456" cy="219456"/>
          </a:xfrm>
          <a:prstGeom prst="rect">
            <a:avLst/>
          </a:prstGeom>
        </p:spPr>
      </p:pic>
      <p:sp>
        <p:nvSpPr>
          <p:cNvPr id="7" name="Text 4"/>
          <p:cNvSpPr/>
          <p:nvPr/>
        </p:nvSpPr>
        <p:spPr>
          <a:xfrm>
            <a:off x="731520" y="237744"/>
            <a:ext cx="23774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GridSense </a:t>
            </a:r>
            <a:r>
              <a:rPr lang="en-US" sz="1300" b="1" dirty="0">
                <a:solidFill>
                  <a:srgbClr val="29D3FF"/>
                </a:solidFill>
                <a:latin typeface="Calibri" pitchFamily="34" charset="0"/>
                <a:ea typeface="Calibri" pitchFamily="34" charset="-122"/>
                <a:cs typeface="Calibri" pitchFamily="34" charset="-120"/>
              </a:rPr>
              <a:t>AI</a:t>
            </a:r>
            <a:endParaRPr lang="en-US" sz="1300" dirty="0"/>
          </a:p>
        </p:txBody>
      </p:sp>
      <p:sp>
        <p:nvSpPr>
          <p:cNvPr id="8" name="Text 5"/>
          <p:cNvSpPr/>
          <p:nvPr/>
        </p:nvSpPr>
        <p:spPr>
          <a:xfrm>
            <a:off x="8259775" y="310896"/>
            <a:ext cx="3474720" cy="274320"/>
          </a:xfrm>
          <a:prstGeom prst="rect">
            <a:avLst/>
          </a:prstGeom>
          <a:noFill/>
          <a:ln/>
        </p:spPr>
        <p:txBody>
          <a:bodyPr wrap="square" lIns="0" tIns="0" rIns="0" bIns="0" rtlCol="0" anchor="ctr"/>
          <a:lstStyle/>
          <a:p>
            <a:pPr marL="0" indent="0" algn="r">
              <a:buNone/>
            </a:pPr>
            <a:r>
              <a:rPr lang="en-US" sz="1050" kern="0" spc="150" dirty="0">
                <a:solidFill>
                  <a:srgbClr val="89A2C4"/>
                </a:solidFill>
                <a:latin typeface="Calibri" pitchFamily="34" charset="0"/>
                <a:ea typeface="Calibri" pitchFamily="34" charset="-122"/>
                <a:cs typeface="Calibri" pitchFamily="34" charset="-120"/>
              </a:rPr>
              <a:t>CONCLUSION</a:t>
            </a:r>
            <a:endParaRPr lang="en-US" sz="1050" dirty="0"/>
          </a:p>
        </p:txBody>
      </p:sp>
      <p:sp>
        <p:nvSpPr>
          <p:cNvPr id="9" name="Text 6"/>
          <p:cNvSpPr/>
          <p:nvPr/>
        </p:nvSpPr>
        <p:spPr>
          <a:xfrm>
            <a:off x="457200" y="676656"/>
            <a:ext cx="11247120" cy="603504"/>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 &amp; Future Scope</a:t>
            </a:r>
            <a:endParaRPr lang="en-US" sz="3200" dirty="0"/>
          </a:p>
        </p:txBody>
      </p:sp>
      <p:sp>
        <p:nvSpPr>
          <p:cNvPr id="10" name="Text 7"/>
          <p:cNvSpPr/>
          <p:nvPr/>
        </p:nvSpPr>
        <p:spPr>
          <a:xfrm>
            <a:off x="457200" y="1225296"/>
            <a:ext cx="11247120" cy="329184"/>
          </a:xfrm>
          <a:prstGeom prst="rect">
            <a:avLst/>
          </a:prstGeom>
          <a:noFill/>
          <a:ln/>
        </p:spPr>
        <p:txBody>
          <a:bodyPr wrap="square" lIns="0" tIns="0" rIns="0" bIns="0" rtlCol="0" anchor="ctr"/>
          <a:lstStyle/>
          <a:p>
            <a:pPr marL="0" indent="0">
              <a:buNone/>
            </a:pPr>
            <a:r>
              <a:rPr lang="en-US" sz="1400" i="1" dirty="0">
                <a:solidFill>
                  <a:srgbClr val="8FE3FF"/>
                </a:solidFill>
                <a:latin typeface="Calibri" pitchFamily="34" charset="0"/>
                <a:ea typeface="Calibri" pitchFamily="34" charset="-122"/>
                <a:cs typeface="Calibri" pitchFamily="34" charset="-120"/>
              </a:rPr>
              <a:t>What GridSense AI delivers today, and where it can go next</a:t>
            </a:r>
            <a:endParaRPr lang="en-US" sz="1400" dirty="0"/>
          </a:p>
        </p:txBody>
      </p:sp>
      <p:sp>
        <p:nvSpPr>
          <p:cNvPr id="11" name="Shape 8"/>
          <p:cNvSpPr/>
          <p:nvPr/>
        </p:nvSpPr>
        <p:spPr>
          <a:xfrm>
            <a:off x="457200" y="1874520"/>
            <a:ext cx="5577840" cy="4343400"/>
          </a:xfrm>
          <a:prstGeom prst="roundRect">
            <a:avLst>
              <a:gd name="adj" fmla="val 1684"/>
            </a:avLst>
          </a:prstGeom>
          <a:solidFill>
            <a:srgbClr val="0D2038"/>
          </a:solidFill>
          <a:ln w="9525">
            <a:solidFill>
              <a:srgbClr val="1E3E64"/>
            </a:solidFill>
            <a:prstDash val="solid"/>
          </a:ln>
          <a:effectLst>
            <a:outerShdw blurRad="101600" dist="38100" dir="5400000" algn="bl" rotWithShape="0">
              <a:srgbClr val="000000">
                <a:alpha val="35000"/>
              </a:srgbClr>
            </a:outerShdw>
          </a:effectLst>
        </p:spPr>
      </p:sp>
      <p:pic>
        <p:nvPicPr>
          <p:cNvPr id="12" name="Image 1" descr="/home/claude/gridsense/icon_checkcircle.png"/>
          <p:cNvPicPr>
            <a:picLocks noChangeAspect="1"/>
          </p:cNvPicPr>
          <p:nvPr/>
        </p:nvPicPr>
        <p:blipFill>
          <a:blip r:embed="rId4"/>
          <a:stretch>
            <a:fillRect/>
          </a:stretch>
        </p:blipFill>
        <p:spPr>
          <a:xfrm>
            <a:off x="731520" y="2084832"/>
            <a:ext cx="329184" cy="329184"/>
          </a:xfrm>
          <a:prstGeom prst="rect">
            <a:avLst/>
          </a:prstGeom>
        </p:spPr>
      </p:pic>
      <p:sp>
        <p:nvSpPr>
          <p:cNvPr id="13" name="Text 9"/>
          <p:cNvSpPr/>
          <p:nvPr/>
        </p:nvSpPr>
        <p:spPr>
          <a:xfrm>
            <a:off x="1170432" y="2121408"/>
            <a:ext cx="4663440" cy="329184"/>
          </a:xfrm>
          <a:prstGeom prst="rect">
            <a:avLst/>
          </a:prstGeom>
          <a:noFill/>
          <a:ln/>
        </p:spPr>
        <p:txBody>
          <a:bodyPr wrap="square" lIns="0" tIns="0" rIns="0" bIns="0" rtlCol="0" anchor="ctr"/>
          <a:lstStyle/>
          <a:p>
            <a:pPr marL="0" indent="0">
              <a:buNone/>
            </a:pPr>
            <a:r>
              <a:rPr lang="en-US" sz="1400" b="1" dirty="0">
                <a:solidFill>
                  <a:srgbClr val="3ED598"/>
                </a:solidFill>
                <a:latin typeface="Calibri" pitchFamily="34" charset="0"/>
                <a:ea typeface="Calibri" pitchFamily="34" charset="-122"/>
                <a:cs typeface="Calibri" pitchFamily="34" charset="-120"/>
              </a:rPr>
              <a:t>Current Implementation (Power BI)</a:t>
            </a:r>
            <a:endParaRPr lang="en-US" sz="1400" dirty="0"/>
          </a:p>
        </p:txBody>
      </p:sp>
      <p:sp>
        <p:nvSpPr>
          <p:cNvPr id="14" name="Text 10"/>
          <p:cNvSpPr/>
          <p:nvPr/>
        </p:nvSpPr>
        <p:spPr>
          <a:xfrm>
            <a:off x="731520" y="2578608"/>
            <a:ext cx="5029200" cy="3383280"/>
          </a:xfrm>
          <a:prstGeom prst="rect">
            <a:avLst/>
          </a:prstGeom>
          <a:noFill/>
          <a:ln/>
        </p:spPr>
        <p:txBody>
          <a:bodyPr wrap="square" lIns="0" tIns="0" rIns="0" bIns="0" rtlCol="0" anchor="t"/>
          <a:lstStyle/>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Cleaned ~20,000-row smart-grid dataset modeled in Power BI</a:t>
            </a:r>
            <a:endParaRPr lang="en-US" sz="1200" dirty="0"/>
          </a:p>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4 interactive dashboard pages covering overview, anomaly/risk, forecasting and weather</a:t>
            </a:r>
            <a:endParaRPr lang="en-US" sz="1200" dirty="0"/>
          </a:p>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DAX measures driving every KPI card and chart</a:t>
            </a:r>
            <a:endParaRPr lang="en-US" sz="1200" dirty="0"/>
          </a:p>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Filters for date, region, building type and meter ID across all pages</a:t>
            </a:r>
            <a:endParaRPr lang="en-US" sz="1200" dirty="0"/>
          </a:p>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Descriptive anomaly, risk and forecast-error visuals based on existing dataset fields</a:t>
            </a:r>
            <a:endParaRPr lang="en-US" sz="1200" dirty="0"/>
          </a:p>
        </p:txBody>
      </p:sp>
      <p:sp>
        <p:nvSpPr>
          <p:cNvPr id="15" name="Shape 11"/>
          <p:cNvSpPr/>
          <p:nvPr/>
        </p:nvSpPr>
        <p:spPr>
          <a:xfrm>
            <a:off x="6263640" y="1874520"/>
            <a:ext cx="5440680" cy="4343400"/>
          </a:xfrm>
          <a:prstGeom prst="roundRect">
            <a:avLst>
              <a:gd name="adj" fmla="val 1684"/>
            </a:avLst>
          </a:prstGeom>
          <a:solidFill>
            <a:srgbClr val="0D2038"/>
          </a:solidFill>
          <a:ln w="9525">
            <a:solidFill>
              <a:srgbClr val="1E3E64"/>
            </a:solidFill>
            <a:prstDash val="solid"/>
          </a:ln>
          <a:effectLst>
            <a:outerShdw blurRad="101600" dist="38100" dir="5400000" algn="bl" rotWithShape="0">
              <a:srgbClr val="000000">
                <a:alpha val="35000"/>
              </a:srgbClr>
            </a:outerShdw>
          </a:effectLst>
        </p:spPr>
      </p:sp>
      <p:pic>
        <p:nvPicPr>
          <p:cNvPr id="16" name="Image 2" descr="/home/claude/gridsense/icon_compass.png"/>
          <p:cNvPicPr>
            <a:picLocks noChangeAspect="1"/>
          </p:cNvPicPr>
          <p:nvPr/>
        </p:nvPicPr>
        <p:blipFill>
          <a:blip r:embed="rId5"/>
          <a:stretch>
            <a:fillRect/>
          </a:stretch>
        </p:blipFill>
        <p:spPr>
          <a:xfrm>
            <a:off x="6537960" y="2084832"/>
            <a:ext cx="329184" cy="329184"/>
          </a:xfrm>
          <a:prstGeom prst="rect">
            <a:avLst/>
          </a:prstGeom>
        </p:spPr>
      </p:pic>
      <p:sp>
        <p:nvSpPr>
          <p:cNvPr id="17" name="Text 12"/>
          <p:cNvSpPr/>
          <p:nvPr/>
        </p:nvSpPr>
        <p:spPr>
          <a:xfrm>
            <a:off x="6976872" y="2121408"/>
            <a:ext cx="4526280" cy="329184"/>
          </a:xfrm>
          <a:prstGeom prst="rect">
            <a:avLst/>
          </a:prstGeom>
          <a:noFill/>
          <a:ln/>
        </p:spPr>
        <p:txBody>
          <a:bodyPr wrap="square" lIns="0" tIns="0" rIns="0" bIns="0" rtlCol="0" anchor="ctr"/>
          <a:lstStyle/>
          <a:p>
            <a:pPr marL="0" indent="0">
              <a:buNone/>
            </a:pPr>
            <a:r>
              <a:rPr lang="en-US" sz="1400" b="1" dirty="0">
                <a:solidFill>
                  <a:srgbClr val="FFC94A"/>
                </a:solidFill>
                <a:latin typeface="Calibri" pitchFamily="34" charset="0"/>
                <a:ea typeface="Calibri" pitchFamily="34" charset="-122"/>
                <a:cs typeface="Calibri" pitchFamily="34" charset="-120"/>
              </a:rPr>
              <a:t>Future Enhancements (Proposed)</a:t>
            </a:r>
            <a:endParaRPr lang="en-US" sz="1400" dirty="0"/>
          </a:p>
        </p:txBody>
      </p:sp>
      <p:sp>
        <p:nvSpPr>
          <p:cNvPr id="18" name="Text 13"/>
          <p:cNvSpPr/>
          <p:nvPr/>
        </p:nvSpPr>
        <p:spPr>
          <a:xfrm>
            <a:off x="6537960" y="2578608"/>
            <a:ext cx="4892040" cy="3383280"/>
          </a:xfrm>
          <a:prstGeom prst="rect">
            <a:avLst/>
          </a:prstGeom>
          <a:noFill/>
          <a:ln/>
        </p:spPr>
        <p:txBody>
          <a:bodyPr wrap="square" lIns="0" tIns="0" rIns="0" bIns="0" rtlCol="0" anchor="t"/>
          <a:lstStyle/>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Machine-learning based anomaly detection and demand forecasting model (not yet trained or deployed)</a:t>
            </a:r>
            <a:endParaRPr lang="en-US" sz="1200" dirty="0"/>
          </a:p>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Automated alerts and notifications for high-risk anomalies and sensor faults</a:t>
            </a:r>
            <a:endParaRPr lang="en-US" sz="1200" dirty="0"/>
          </a:p>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Live streaming integration with real smart-meter feeds, beyond static historical data</a:t>
            </a:r>
            <a:endParaRPr lang="en-US" sz="1200" dirty="0"/>
          </a:p>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Mobile-optimized dashboard views for field engineers</a:t>
            </a:r>
            <a:endParaRPr lang="en-US" sz="1200" dirty="0"/>
          </a:p>
          <a:p>
            <a:pPr marL="342900" indent="-342900">
              <a:lnSpc>
                <a:spcPct val="112000"/>
              </a:lnSpc>
              <a:spcAft>
                <a:spcPts val="1000"/>
              </a:spcAft>
              <a:buSzPct val="100000"/>
              <a:buChar char="▸"/>
            </a:pPr>
            <a:r>
              <a:rPr lang="en-US" sz="1200" dirty="0">
                <a:solidFill>
                  <a:srgbClr val="D7E6FF"/>
                </a:solidFill>
                <a:latin typeface="Calibri" pitchFamily="34" charset="0"/>
                <a:ea typeface="Calibri" pitchFamily="34" charset="-122"/>
                <a:cs typeface="Calibri" pitchFamily="34" charset="-120"/>
              </a:rPr>
              <a:t>Expanded scope to include cost/billing and carbon-impact analytics</a:t>
            </a:r>
            <a:endParaRPr lang="en-US" sz="1200" dirty="0"/>
          </a:p>
        </p:txBody>
      </p:sp>
      <p:sp>
        <p:nvSpPr>
          <p:cNvPr id="19" name="Text 14"/>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9A2C4"/>
                </a:solidFill>
                <a:latin typeface="Calibri" pitchFamily="34" charset="0"/>
                <a:ea typeface="Calibri" pitchFamily="34" charset="-122"/>
                <a:cs typeface="Calibri" pitchFamily="34" charset="-120"/>
              </a:rPr>
              <a:t>GridSense AI  |  Academic Project Review</a:t>
            </a:r>
            <a:endParaRPr lang="en-US" sz="900" dirty="0"/>
          </a:p>
        </p:txBody>
      </p:sp>
      <p:sp>
        <p:nvSpPr>
          <p:cNvPr id="20" name="Text 15"/>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9A2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1978</Words>
  <Application>Microsoft Office PowerPoint</Application>
  <PresentationFormat>Widescreen</PresentationFormat>
  <Paragraphs>263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Praveen M</cp:lastModifiedBy>
  <cp:revision>3</cp:revision>
  <dcterms:created xsi:type="dcterms:W3CDTF">2026-09-20T12:59:06Z</dcterms:created>
  <dcterms:modified xsi:type="dcterms:W3CDTF">2026-09-21T10:04:44Z</dcterms:modified>
</cp:coreProperties>
</file>